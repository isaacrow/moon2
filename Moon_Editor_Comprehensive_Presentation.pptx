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8686800" y="-914400"/>
            <a:ext cx="5029200" cy="5029200"/>
          </a:xfrm>
          <a:prstGeom prst="ellipse">
            <a:avLst/>
          </a:prstGeom>
          <a:solidFill>
            <a:srgbClr val="1A274E">
              <a:alpha val="70000"/>
            </a:srgbClr>
          </a:solidFill>
          <a:ln/>
        </p:spPr>
      </p:sp>
      <p:sp>
        <p:nvSpPr>
          <p:cNvPr id="3" name="Shape 1"/>
          <p:cNvSpPr/>
          <p:nvPr/>
        </p:nvSpPr>
        <p:spPr>
          <a:xfrm>
            <a:off x="9601200" y="3657600"/>
            <a:ext cx="3657600" cy="3657600"/>
          </a:xfrm>
          <a:prstGeom prst="ellipse">
            <a:avLst/>
          </a:prstGeom>
          <a:solidFill>
            <a:srgbClr val="0E1B38">
              <a:alpha val="80000"/>
            </a:srgbClr>
          </a:solidFill>
          <a:ln/>
        </p:spPr>
      </p:sp>
      <p:sp>
        <p:nvSpPr>
          <p:cNvPr id="4" name="Shape 2"/>
          <p:cNvSpPr/>
          <p:nvPr/>
        </p:nvSpPr>
        <p:spPr>
          <a:xfrm>
            <a:off x="914400" y="1280160"/>
            <a:ext cx="3840480" cy="411480"/>
          </a:xfrm>
          <a:prstGeom prst="roundRect">
            <a:avLst/>
          </a:prstGeom>
          <a:solidFill>
            <a:srgbClr val="1C2B54"/>
          </a:solidFill>
          <a:ln/>
        </p:spPr>
      </p:sp>
      <p:sp>
        <p:nvSpPr>
          <p:cNvPr id="5" name="Text 3"/>
          <p:cNvSpPr/>
          <p:nvPr/>
        </p:nvSpPr>
        <p:spPr>
          <a:xfrm>
            <a:off x="914400" y="1280160"/>
            <a:ext cx="3840480" cy="411480"/>
          </a:xfrm>
          <a:prstGeom prst="rect">
            <a:avLst/>
          </a:prstGeom>
          <a:noFill/>
          <a:ln/>
        </p:spPr>
        <p:txBody>
          <a:bodyPr wrap="square" rtlCol="0" anchor="ctr"/>
          <a:lstStyle/>
          <a:p>
            <a:pPr algn="ctr" indent="0" marL="0">
              <a:buNone/>
            </a:pPr>
            <a:r>
              <a:rPr lang="en-US" sz="1000" b="1" dirty="0">
                <a:solidFill>
                  <a:srgbClr val="48CAE4"/>
                </a:solidFill>
                <a:latin typeface="Arial" pitchFamily="34" charset="0"/>
                <a:ea typeface="Arial" pitchFamily="34" charset="-122"/>
                <a:cs typeface="Arial" pitchFamily="34" charset="-120"/>
              </a:rPr>
              <a:t>🌟 ENTERPRISE BIBFRAME 2.0 / 3.0 SYSTEM</a:t>
            </a:r>
            <a:endParaRPr lang="en-US" sz="1000" dirty="0"/>
          </a:p>
        </p:txBody>
      </p:sp>
      <p:sp>
        <p:nvSpPr>
          <p:cNvPr id="6" name="Text 4"/>
          <p:cNvSpPr/>
          <p:nvPr/>
        </p:nvSpPr>
        <p:spPr>
          <a:xfrm>
            <a:off x="914400" y="1828800"/>
            <a:ext cx="10058400" cy="109728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 MOON EDITOR</a:t>
            </a:r>
            <a:endParaRPr lang="en-US" sz="4400" dirty="0"/>
          </a:p>
        </p:txBody>
      </p:sp>
      <p:sp>
        <p:nvSpPr>
          <p:cNvPr id="7" name="Text 5"/>
          <p:cNvSpPr/>
          <p:nvPr/>
        </p:nvSpPr>
        <p:spPr>
          <a:xfrm>
            <a:off x="914400" y="2926080"/>
            <a:ext cx="9144000" cy="731520"/>
          </a:xfrm>
          <a:prstGeom prst="rect">
            <a:avLst/>
          </a:prstGeom>
          <a:noFill/>
          <a:ln/>
        </p:spPr>
        <p:txBody>
          <a:bodyPr wrap="square" rtlCol="0" anchor="ctr"/>
          <a:lstStyle/>
          <a:p>
            <a:pPr indent="0" marL="0">
              <a:buNone/>
            </a:pPr>
            <a:r>
              <a:rPr lang="en-US" sz="1800" dirty="0">
                <a:solidFill>
                  <a:srgbClr val="CBD5E1"/>
                </a:solidFill>
                <a:latin typeface="Arial" pitchFamily="34" charset="0"/>
                <a:ea typeface="Arial" pitchFamily="34" charset="-122"/>
                <a:cs typeface="Arial" pitchFamily="34" charset="-120"/>
              </a:rPr>
              <a:t>Next-Generation Semantic Cataloging, Linked Open Data &amp; AI Orchestration Ecosystem</a:t>
            </a:r>
            <a:endParaRPr lang="en-US" sz="1800" dirty="0"/>
          </a:p>
        </p:txBody>
      </p:sp>
      <p:sp>
        <p:nvSpPr>
          <p:cNvPr id="8" name="Shape 6"/>
          <p:cNvSpPr/>
          <p:nvPr/>
        </p:nvSpPr>
        <p:spPr>
          <a:xfrm>
            <a:off x="914400" y="3749040"/>
            <a:ext cx="2743200" cy="45720"/>
          </a:xfrm>
          <a:prstGeom prst="rect">
            <a:avLst/>
          </a:prstGeom>
          <a:solidFill>
            <a:srgbClr val="0071E3"/>
          </a:solidFill>
          <a:ln/>
        </p:spPr>
      </p:sp>
      <p:sp>
        <p:nvSpPr>
          <p:cNvPr id="9" name="Shape 7"/>
          <p:cNvSpPr/>
          <p:nvPr/>
        </p:nvSpPr>
        <p:spPr>
          <a:xfrm>
            <a:off x="914400" y="4023360"/>
            <a:ext cx="2423160" cy="1463040"/>
          </a:xfrm>
          <a:prstGeom prst="roundRect">
            <a:avLst/>
          </a:prstGeom>
          <a:solidFill>
            <a:srgbClr val="162244"/>
          </a:solidFill>
          <a:ln/>
        </p:spPr>
      </p:sp>
      <p:sp>
        <p:nvSpPr>
          <p:cNvPr id="10" name="Shape 8"/>
          <p:cNvSpPr/>
          <p:nvPr/>
        </p:nvSpPr>
        <p:spPr>
          <a:xfrm>
            <a:off x="914400" y="4023360"/>
            <a:ext cx="2423160" cy="54864"/>
          </a:xfrm>
          <a:prstGeom prst="rect">
            <a:avLst/>
          </a:prstGeom>
          <a:solidFill>
            <a:srgbClr val="0071E3"/>
          </a:solidFill>
          <a:ln/>
        </p:spPr>
      </p:sp>
      <p:sp>
        <p:nvSpPr>
          <p:cNvPr id="11" name="Text 9"/>
          <p:cNvSpPr/>
          <p:nvPr/>
        </p:nvSpPr>
        <p:spPr>
          <a:xfrm>
            <a:off x="1051560" y="4206240"/>
            <a:ext cx="21488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Ontology-Driven</a:t>
            </a:r>
            <a:endParaRPr lang="en-US" sz="1200" dirty="0"/>
          </a:p>
        </p:txBody>
      </p:sp>
      <p:sp>
        <p:nvSpPr>
          <p:cNvPr id="12" name="Text 10"/>
          <p:cNvSpPr/>
          <p:nvPr/>
        </p:nvSpPr>
        <p:spPr>
          <a:xfrm>
            <a:off x="1051560" y="4617720"/>
            <a:ext cx="2148840" cy="73152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Full LOC BIBFRAME 2.0/3.0 dynamic field mapping</a:t>
            </a:r>
            <a:endParaRPr lang="en-US" sz="950" dirty="0"/>
          </a:p>
        </p:txBody>
      </p:sp>
      <p:sp>
        <p:nvSpPr>
          <p:cNvPr id="13" name="Shape 11"/>
          <p:cNvSpPr/>
          <p:nvPr/>
        </p:nvSpPr>
        <p:spPr>
          <a:xfrm>
            <a:off x="3520440" y="4023360"/>
            <a:ext cx="2423160" cy="1463040"/>
          </a:xfrm>
          <a:prstGeom prst="roundRect">
            <a:avLst/>
          </a:prstGeom>
          <a:solidFill>
            <a:srgbClr val="162244"/>
          </a:solidFill>
          <a:ln/>
        </p:spPr>
      </p:sp>
      <p:sp>
        <p:nvSpPr>
          <p:cNvPr id="14" name="Shape 12"/>
          <p:cNvSpPr/>
          <p:nvPr/>
        </p:nvSpPr>
        <p:spPr>
          <a:xfrm>
            <a:off x="3520440" y="4023360"/>
            <a:ext cx="2423160" cy="54864"/>
          </a:xfrm>
          <a:prstGeom prst="rect">
            <a:avLst/>
          </a:prstGeom>
          <a:solidFill>
            <a:srgbClr val="7209B7"/>
          </a:solidFill>
          <a:ln/>
        </p:spPr>
      </p:sp>
      <p:sp>
        <p:nvSpPr>
          <p:cNvPr id="15" name="Text 13"/>
          <p:cNvSpPr/>
          <p:nvPr/>
        </p:nvSpPr>
        <p:spPr>
          <a:xfrm>
            <a:off x="3657600" y="4206240"/>
            <a:ext cx="21488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Multi-AI Router</a:t>
            </a:r>
            <a:endParaRPr lang="en-US" sz="1200" dirty="0"/>
          </a:p>
        </p:txBody>
      </p:sp>
      <p:sp>
        <p:nvSpPr>
          <p:cNvPr id="16" name="Text 14"/>
          <p:cNvSpPr/>
          <p:nvPr/>
        </p:nvSpPr>
        <p:spPr>
          <a:xfrm>
            <a:off x="3657600" y="4617720"/>
            <a:ext cx="2148840" cy="73152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GPT-4, Gemini 1.5, LLaMA with circuit breakers</a:t>
            </a:r>
            <a:endParaRPr lang="en-US" sz="950" dirty="0"/>
          </a:p>
        </p:txBody>
      </p:sp>
      <p:sp>
        <p:nvSpPr>
          <p:cNvPr id="17" name="Shape 15"/>
          <p:cNvSpPr/>
          <p:nvPr/>
        </p:nvSpPr>
        <p:spPr>
          <a:xfrm>
            <a:off x="6126480" y="4023360"/>
            <a:ext cx="2423160" cy="1463040"/>
          </a:xfrm>
          <a:prstGeom prst="roundRect">
            <a:avLst/>
          </a:prstGeom>
          <a:solidFill>
            <a:srgbClr val="162244"/>
          </a:solidFill>
          <a:ln/>
        </p:spPr>
      </p:sp>
      <p:sp>
        <p:nvSpPr>
          <p:cNvPr id="18" name="Shape 16"/>
          <p:cNvSpPr/>
          <p:nvPr/>
        </p:nvSpPr>
        <p:spPr>
          <a:xfrm>
            <a:off x="6126480" y="4023360"/>
            <a:ext cx="2423160" cy="54864"/>
          </a:xfrm>
          <a:prstGeom prst="rect">
            <a:avLst/>
          </a:prstGeom>
          <a:solidFill>
            <a:srgbClr val="10B981"/>
          </a:solidFill>
          <a:ln/>
        </p:spPr>
      </p:sp>
      <p:sp>
        <p:nvSpPr>
          <p:cNvPr id="19" name="Text 17"/>
          <p:cNvSpPr/>
          <p:nvPr/>
        </p:nvSpPr>
        <p:spPr>
          <a:xfrm>
            <a:off x="6263640" y="4206240"/>
            <a:ext cx="21488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19 Linked Sources</a:t>
            </a:r>
            <a:endParaRPr lang="en-US" sz="1200" dirty="0"/>
          </a:p>
        </p:txBody>
      </p:sp>
      <p:sp>
        <p:nvSpPr>
          <p:cNvPr id="20" name="Text 18"/>
          <p:cNvSpPr/>
          <p:nvPr/>
        </p:nvSpPr>
        <p:spPr>
          <a:xfrm>
            <a:off x="6263640" y="4617720"/>
            <a:ext cx="2148840" cy="73152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LOC, VIAF, Wikidata, AFIQA, WorldCat &amp; BnF</a:t>
            </a:r>
            <a:endParaRPr lang="en-US" sz="950" dirty="0"/>
          </a:p>
        </p:txBody>
      </p:sp>
      <p:sp>
        <p:nvSpPr>
          <p:cNvPr id="21" name="Shape 19"/>
          <p:cNvSpPr/>
          <p:nvPr/>
        </p:nvSpPr>
        <p:spPr>
          <a:xfrm>
            <a:off x="8732520" y="4023360"/>
            <a:ext cx="2423160" cy="1463040"/>
          </a:xfrm>
          <a:prstGeom prst="roundRect">
            <a:avLst/>
          </a:prstGeom>
          <a:solidFill>
            <a:srgbClr val="162244"/>
          </a:solidFill>
          <a:ln/>
        </p:spPr>
      </p:sp>
      <p:sp>
        <p:nvSpPr>
          <p:cNvPr id="22" name="Shape 20"/>
          <p:cNvSpPr/>
          <p:nvPr/>
        </p:nvSpPr>
        <p:spPr>
          <a:xfrm>
            <a:off x="8732520" y="4023360"/>
            <a:ext cx="2423160" cy="54864"/>
          </a:xfrm>
          <a:prstGeom prst="rect">
            <a:avLst/>
          </a:prstGeom>
          <a:solidFill>
            <a:srgbClr val="F4A261"/>
          </a:solidFill>
          <a:ln/>
        </p:spPr>
      </p:sp>
      <p:sp>
        <p:nvSpPr>
          <p:cNvPr id="23" name="Text 21"/>
          <p:cNvSpPr/>
          <p:nvPr/>
        </p:nvSpPr>
        <p:spPr>
          <a:xfrm>
            <a:off x="8869680" y="4206240"/>
            <a:ext cx="21488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Bilingual &amp; RTL</a:t>
            </a:r>
            <a:endParaRPr lang="en-US" sz="1200" dirty="0"/>
          </a:p>
        </p:txBody>
      </p:sp>
      <p:sp>
        <p:nvSpPr>
          <p:cNvPr id="24" name="Text 22"/>
          <p:cNvSpPr/>
          <p:nvPr/>
        </p:nvSpPr>
        <p:spPr>
          <a:xfrm>
            <a:off x="8869680" y="4617720"/>
            <a:ext cx="2148840" cy="73152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Native Arabic/English, AFIQA &amp; ScriptShifter</a:t>
            </a:r>
            <a:endParaRPr lang="en-US" sz="950" dirty="0"/>
          </a:p>
        </p:txBody>
      </p:sp>
      <p:sp>
        <p:nvSpPr>
          <p:cNvPr id="25" name="Text 23"/>
          <p:cNvSpPr/>
          <p:nvPr/>
        </p:nvSpPr>
        <p:spPr>
          <a:xfrm>
            <a:off x="914400" y="5852160"/>
            <a:ext cx="10058400" cy="36576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Author: Isaac Faleh | Edition: v333 / Moon TO 16 | 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STRATEGIC OVERVIEW</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Executive Summary &amp; Vision: Reimagining Bibliographic Data</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2 of 16</a:t>
            </a:r>
            <a:endParaRPr lang="en-US" sz="850" dirty="0"/>
          </a:p>
        </p:txBody>
      </p:sp>
      <p:sp>
        <p:nvSpPr>
          <p:cNvPr id="11" name="Shape 9"/>
          <p:cNvSpPr/>
          <p:nvPr/>
        </p:nvSpPr>
        <p:spPr>
          <a:xfrm>
            <a:off x="731520" y="1280160"/>
            <a:ext cx="5120640" cy="5029200"/>
          </a:xfrm>
          <a:prstGeom prst="roundRect">
            <a:avLst/>
          </a:prstGeom>
          <a:solidFill>
            <a:srgbClr val="FFFFFF"/>
          </a:solidFill>
          <a:ln w="12700">
            <a:solidFill>
              <a:srgbClr val="E2E8F0"/>
            </a:solidFill>
            <a:prstDash val="solid"/>
          </a:ln>
        </p:spPr>
      </p:sp>
      <p:sp>
        <p:nvSpPr>
          <p:cNvPr id="12" name="Text 10"/>
          <p:cNvSpPr/>
          <p:nvPr/>
        </p:nvSpPr>
        <p:spPr>
          <a:xfrm>
            <a:off x="1005840" y="1463040"/>
            <a:ext cx="4572000" cy="365760"/>
          </a:xfrm>
          <a:prstGeom prst="rect">
            <a:avLst/>
          </a:prstGeom>
          <a:noFill/>
          <a:ln/>
        </p:spPr>
        <p:txBody>
          <a:bodyPr wrap="square" rtlCol="0" anchor="ctr"/>
          <a:lstStyle/>
          <a:p>
            <a:pPr indent="0" marL="0">
              <a:buNone/>
            </a:pPr>
            <a:r>
              <a:rPr lang="en-US" sz="1400" b="1" dirty="0">
                <a:solidFill>
                  <a:srgbClr val="1C2541"/>
                </a:solidFill>
                <a:latin typeface="Arial" pitchFamily="34" charset="0"/>
                <a:ea typeface="Arial" pitchFamily="34" charset="-122"/>
                <a:cs typeface="Arial" pitchFamily="34" charset="-120"/>
              </a:rPr>
              <a:t>🎯 The Paradigm Shift</a:t>
            </a:r>
            <a:endParaRPr lang="en-US" sz="1400" dirty="0"/>
          </a:p>
        </p:txBody>
      </p:sp>
      <p:sp>
        <p:nvSpPr>
          <p:cNvPr id="13" name="Text 11"/>
          <p:cNvSpPr/>
          <p:nvPr/>
        </p:nvSpPr>
        <p:spPr>
          <a:xfrm>
            <a:off x="1005840" y="1920240"/>
            <a:ext cx="4572000" cy="4206240"/>
          </a:xfrm>
          <a:prstGeom prst="rect">
            <a:avLst/>
          </a:prstGeom>
          <a:noFill/>
          <a:ln/>
        </p:spPr>
        <p:txBody>
          <a:bodyPr wrap="square" rtlCol="0" anchor="ctr"/>
          <a:lstStyle/>
          <a:p>
            <a:pPr indent="0" marL="0">
              <a:buNone/>
            </a:pPr>
            <a:r>
              <a:rPr lang="en-US" sz="1050" b="1" dirty="0">
                <a:solidFill>
                  <a:srgbClr val="0071E3"/>
                </a:solidFill>
                <a:latin typeface="Arial" pitchFamily="34" charset="0"/>
                <a:ea typeface="Arial" pitchFamily="34" charset="-122"/>
                <a:cs typeface="Arial" pitchFamily="34" charset="-120"/>
              </a:rPr>
              <a:t>From Flat Records to Linked Knowledge Graphs:
</a:t>
            </a:r>
            <a:pPr indent="0" marL="0">
              <a:buNone/>
            </a:pPr>
            <a:r>
              <a:rPr lang="en-US" sz="1050" dirty="0">
                <a:solidFill>
                  <a:srgbClr val="1E293B"/>
                </a:solidFill>
                <a:latin typeface="Arial" pitchFamily="34" charset="0"/>
                <a:ea typeface="Arial" pitchFamily="34" charset="-122"/>
                <a:cs typeface="Arial" pitchFamily="34" charset="-120"/>
              </a:rPr>
              <a:t>Traditional cataloging relies on isolated MARC21 text strings. Moon transforms bibliographic assets into interconnected W3C RDF knowledge graphs with permanent HTTP URIs.
</a:t>
            </a:r>
            <a:pPr indent="0" marL="0">
              <a:buNone/>
            </a:pPr>
            <a:r>
              <a:rPr lang="en-US" sz="1050" b="1" dirty="0">
                <a:solidFill>
                  <a:srgbClr val="0071E3"/>
                </a:solidFill>
                <a:latin typeface="Arial" pitchFamily="34" charset="0"/>
                <a:ea typeface="Arial" pitchFamily="34" charset="-122"/>
                <a:cs typeface="Arial" pitchFamily="34" charset="-120"/>
              </a:rPr>
              <a:t>Dynamic Ontology Execution:
</a:t>
            </a:r>
            <a:pPr indent="0" marL="0">
              <a:buNone/>
            </a:pPr>
            <a:r>
              <a:rPr lang="en-US" sz="1050" dirty="0">
                <a:solidFill>
                  <a:srgbClr val="1E293B"/>
                </a:solidFill>
                <a:latin typeface="Arial" pitchFamily="34" charset="0"/>
                <a:ea typeface="Arial" pitchFamily="34" charset="-122"/>
                <a:cs typeface="Arial" pitchFamily="34" charset="-120"/>
              </a:rPr>
              <a:t>Fields are not hardcoded forms; they are dynamically bound from Library of Congress BIBFRAME 2.0/3.0 ontologies with automated domain/range verification.
</a:t>
            </a:r>
            <a:pPr indent="0" marL="0">
              <a:buNone/>
            </a:pPr>
            <a:r>
              <a:rPr lang="en-US" sz="1050" b="1" dirty="0">
                <a:solidFill>
                  <a:srgbClr val="0071E3"/>
                </a:solidFill>
                <a:latin typeface="Arial" pitchFamily="34" charset="0"/>
                <a:ea typeface="Arial" pitchFamily="34" charset="-122"/>
                <a:cs typeface="Arial" pitchFamily="34" charset="-120"/>
              </a:rPr>
              <a:t>Universal Access &amp; Bilingualism:
</a:t>
            </a:r>
            <a:pPr indent="0" marL="0">
              <a:buNone/>
            </a:pPr>
            <a:r>
              <a:rPr lang="en-US" sz="1050" dirty="0">
                <a:solidFill>
                  <a:srgbClr val="1E293B"/>
                </a:solidFill>
                <a:latin typeface="Arial" pitchFamily="34" charset="0"/>
                <a:ea typeface="Arial" pitchFamily="34" charset="-122"/>
                <a:cs typeface="Arial" pitchFamily="34" charset="-120"/>
              </a:rPr>
              <a:t>First-class support for both English (LTR) and Arabic (RTL) with specialized authority integration for Middle Eastern scholarship.</a:t>
            </a:r>
            <a:endParaRPr lang="en-US" sz="1050" dirty="0"/>
          </a:p>
        </p:txBody>
      </p:sp>
      <p:sp>
        <p:nvSpPr>
          <p:cNvPr id="14" name="Shape 12"/>
          <p:cNvSpPr/>
          <p:nvPr/>
        </p:nvSpPr>
        <p:spPr>
          <a:xfrm>
            <a:off x="6126480" y="1280160"/>
            <a:ext cx="5303520" cy="1508760"/>
          </a:xfrm>
          <a:prstGeom prst="roundRect">
            <a:avLst/>
          </a:prstGeom>
          <a:solidFill>
            <a:srgbClr val="FFFFFF"/>
          </a:solidFill>
          <a:ln w="12700">
            <a:solidFill>
              <a:srgbClr val="E2E8F0"/>
            </a:solidFill>
            <a:prstDash val="solid"/>
          </a:ln>
        </p:spPr>
      </p:sp>
      <p:sp>
        <p:nvSpPr>
          <p:cNvPr id="15" name="Shape 13"/>
          <p:cNvSpPr/>
          <p:nvPr/>
        </p:nvSpPr>
        <p:spPr>
          <a:xfrm>
            <a:off x="6126480" y="1280160"/>
            <a:ext cx="137160" cy="1508760"/>
          </a:xfrm>
          <a:prstGeom prst="rect">
            <a:avLst/>
          </a:prstGeom>
          <a:solidFill>
            <a:srgbClr val="0071E3"/>
          </a:solidFill>
          <a:ln/>
        </p:spPr>
      </p:sp>
      <p:sp>
        <p:nvSpPr>
          <p:cNvPr id="16" name="Text 14"/>
          <p:cNvSpPr/>
          <p:nvPr/>
        </p:nvSpPr>
        <p:spPr>
          <a:xfrm>
            <a:off x="6492240" y="1444752"/>
            <a:ext cx="475488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Standards &amp; Interoperability</a:t>
            </a:r>
            <a:endParaRPr lang="en-US" sz="1250" dirty="0"/>
          </a:p>
        </p:txBody>
      </p:sp>
      <p:sp>
        <p:nvSpPr>
          <p:cNvPr id="17" name="Text 15"/>
          <p:cNvSpPr/>
          <p:nvPr/>
        </p:nvSpPr>
        <p:spPr>
          <a:xfrm>
            <a:off x="6492240" y="1810512"/>
            <a:ext cx="4754880" cy="86868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Full compliance with LC BIBFRAME 2.0/3.0, RDA, W3C JSON-LD, SPARQL, and complete bidirectional MARC21 crosswalks.</a:t>
            </a:r>
            <a:endParaRPr lang="en-US" sz="1000" dirty="0"/>
          </a:p>
        </p:txBody>
      </p:sp>
      <p:sp>
        <p:nvSpPr>
          <p:cNvPr id="18" name="Shape 16"/>
          <p:cNvSpPr/>
          <p:nvPr/>
        </p:nvSpPr>
        <p:spPr>
          <a:xfrm>
            <a:off x="6126480" y="2971800"/>
            <a:ext cx="5303520" cy="1508760"/>
          </a:xfrm>
          <a:prstGeom prst="roundRect">
            <a:avLst/>
          </a:prstGeom>
          <a:solidFill>
            <a:srgbClr val="FFFFFF"/>
          </a:solidFill>
          <a:ln w="12700">
            <a:solidFill>
              <a:srgbClr val="E2E8F0"/>
            </a:solidFill>
            <a:prstDash val="solid"/>
          </a:ln>
        </p:spPr>
      </p:sp>
      <p:sp>
        <p:nvSpPr>
          <p:cNvPr id="19" name="Shape 17"/>
          <p:cNvSpPr/>
          <p:nvPr/>
        </p:nvSpPr>
        <p:spPr>
          <a:xfrm>
            <a:off x="6126480" y="2971800"/>
            <a:ext cx="137160" cy="1508760"/>
          </a:xfrm>
          <a:prstGeom prst="rect">
            <a:avLst/>
          </a:prstGeom>
          <a:solidFill>
            <a:srgbClr val="7209B7"/>
          </a:solidFill>
          <a:ln/>
        </p:spPr>
      </p:sp>
      <p:sp>
        <p:nvSpPr>
          <p:cNvPr id="20" name="Text 18"/>
          <p:cNvSpPr/>
          <p:nvPr/>
        </p:nvSpPr>
        <p:spPr>
          <a:xfrm>
            <a:off x="6492240" y="3136392"/>
            <a:ext cx="475488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AI-Augmented Cataloging</a:t>
            </a:r>
            <a:endParaRPr lang="en-US" sz="1250" dirty="0"/>
          </a:p>
        </p:txBody>
      </p:sp>
      <p:sp>
        <p:nvSpPr>
          <p:cNvPr id="21" name="Text 19"/>
          <p:cNvSpPr/>
          <p:nvPr/>
        </p:nvSpPr>
        <p:spPr>
          <a:xfrm>
            <a:off x="6492240" y="3502152"/>
            <a:ext cx="4754880" cy="86868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Automated entity extraction, classification suggestions, and authority disambiguation via multi-LLM orchestrator.</a:t>
            </a:r>
            <a:endParaRPr lang="en-US" sz="1000" dirty="0"/>
          </a:p>
        </p:txBody>
      </p:sp>
      <p:sp>
        <p:nvSpPr>
          <p:cNvPr id="22" name="Shape 20"/>
          <p:cNvSpPr/>
          <p:nvPr/>
        </p:nvSpPr>
        <p:spPr>
          <a:xfrm>
            <a:off x="6126480" y="4663440"/>
            <a:ext cx="5303520" cy="1508760"/>
          </a:xfrm>
          <a:prstGeom prst="roundRect">
            <a:avLst/>
          </a:prstGeom>
          <a:solidFill>
            <a:srgbClr val="FFFFFF"/>
          </a:solidFill>
          <a:ln w="12700">
            <a:solidFill>
              <a:srgbClr val="E2E8F0"/>
            </a:solidFill>
            <a:prstDash val="solid"/>
          </a:ln>
        </p:spPr>
      </p:sp>
      <p:sp>
        <p:nvSpPr>
          <p:cNvPr id="23" name="Shape 21"/>
          <p:cNvSpPr/>
          <p:nvPr/>
        </p:nvSpPr>
        <p:spPr>
          <a:xfrm>
            <a:off x="6126480" y="4663440"/>
            <a:ext cx="137160" cy="1508760"/>
          </a:xfrm>
          <a:prstGeom prst="rect">
            <a:avLst/>
          </a:prstGeom>
          <a:solidFill>
            <a:srgbClr val="10B981"/>
          </a:solidFill>
          <a:ln/>
        </p:spPr>
      </p:sp>
      <p:sp>
        <p:nvSpPr>
          <p:cNvPr id="24" name="Text 22"/>
          <p:cNvSpPr/>
          <p:nvPr/>
        </p:nvSpPr>
        <p:spPr>
          <a:xfrm>
            <a:off x="6492240" y="4828032"/>
            <a:ext cx="475488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Multi-Institutional Consortium</a:t>
            </a:r>
            <a:endParaRPr lang="en-US" sz="1250" dirty="0"/>
          </a:p>
        </p:txBody>
      </p:sp>
      <p:sp>
        <p:nvSpPr>
          <p:cNvPr id="25" name="Text 23"/>
          <p:cNvSpPr/>
          <p:nvPr/>
        </p:nvSpPr>
        <p:spPr>
          <a:xfrm>
            <a:off x="6492240" y="5193792"/>
            <a:ext cx="4754880" cy="86868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JCricket provenance tracking, peer review workflows, and bidirectional FOLIO LSP synchronization across 377+ modules.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PLATFORM METRICS</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System Scale &amp; Implementation Metrics</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3 of 16</a:t>
            </a:r>
            <a:endParaRPr lang="en-US" sz="850" dirty="0"/>
          </a:p>
        </p:txBody>
      </p:sp>
      <p:sp>
        <p:nvSpPr>
          <p:cNvPr id="11" name="Shape 9"/>
          <p:cNvSpPr/>
          <p:nvPr/>
        </p:nvSpPr>
        <p:spPr>
          <a:xfrm>
            <a:off x="731520" y="1280160"/>
            <a:ext cx="3429000" cy="2286000"/>
          </a:xfrm>
          <a:prstGeom prst="roundRect">
            <a:avLst/>
          </a:prstGeom>
          <a:solidFill>
            <a:srgbClr val="FFFFFF"/>
          </a:solidFill>
          <a:ln w="12700">
            <a:solidFill>
              <a:srgbClr val="E2E8F0"/>
            </a:solidFill>
            <a:prstDash val="solid"/>
          </a:ln>
        </p:spPr>
      </p:sp>
      <p:sp>
        <p:nvSpPr>
          <p:cNvPr id="12" name="Shape 10"/>
          <p:cNvSpPr/>
          <p:nvPr/>
        </p:nvSpPr>
        <p:spPr>
          <a:xfrm>
            <a:off x="731520" y="1280160"/>
            <a:ext cx="3429000" cy="73152"/>
          </a:xfrm>
          <a:prstGeom prst="rect">
            <a:avLst/>
          </a:prstGeom>
          <a:solidFill>
            <a:srgbClr val="0071E3"/>
          </a:solidFill>
          <a:ln/>
        </p:spPr>
      </p:sp>
      <p:sp>
        <p:nvSpPr>
          <p:cNvPr id="13" name="Text 11"/>
          <p:cNvSpPr/>
          <p:nvPr/>
        </p:nvSpPr>
        <p:spPr>
          <a:xfrm>
            <a:off x="914400" y="1554480"/>
            <a:ext cx="3063240" cy="731520"/>
          </a:xfrm>
          <a:prstGeom prst="rect">
            <a:avLst/>
          </a:prstGeom>
          <a:noFill/>
          <a:ln/>
        </p:spPr>
        <p:txBody>
          <a:bodyPr wrap="square" rtlCol="0" anchor="ctr"/>
          <a:lstStyle/>
          <a:p>
            <a:pPr algn="ctr" indent="0" marL="0">
              <a:buNone/>
            </a:pPr>
            <a:r>
              <a:rPr lang="en-US" sz="3200" b="1" dirty="0">
                <a:solidFill>
                  <a:srgbClr val="0071E3"/>
                </a:solidFill>
                <a:latin typeface="Arial" pitchFamily="34" charset="0"/>
                <a:ea typeface="Arial" pitchFamily="34" charset="-122"/>
                <a:cs typeface="Arial" pitchFamily="34" charset="-120"/>
              </a:rPr>
              <a:t>35,000+</a:t>
            </a:r>
            <a:endParaRPr lang="en-US" sz="3200" dirty="0"/>
          </a:p>
        </p:txBody>
      </p:sp>
      <p:sp>
        <p:nvSpPr>
          <p:cNvPr id="14" name="Text 12"/>
          <p:cNvSpPr/>
          <p:nvPr/>
        </p:nvSpPr>
        <p:spPr>
          <a:xfrm>
            <a:off x="914400" y="2331720"/>
            <a:ext cx="3063240" cy="411480"/>
          </a:xfrm>
          <a:prstGeom prst="rect">
            <a:avLst/>
          </a:prstGeom>
          <a:noFill/>
          <a:ln/>
        </p:spPr>
        <p:txBody>
          <a:bodyPr wrap="square" rtlCol="0" anchor="ctr"/>
          <a:lstStyle/>
          <a:p>
            <a:pPr algn="ctr" indent="0" marL="0">
              <a:buNone/>
            </a:pPr>
            <a:r>
              <a:rPr lang="en-US" sz="1200" b="1" dirty="0">
                <a:solidFill>
                  <a:srgbClr val="1C2541"/>
                </a:solidFill>
                <a:latin typeface="Arial" pitchFamily="34" charset="0"/>
                <a:ea typeface="Arial" pitchFamily="34" charset="-122"/>
                <a:cs typeface="Arial" pitchFamily="34" charset="-120"/>
              </a:rPr>
              <a:t>Lines of TypeScript Code</a:t>
            </a:r>
            <a:endParaRPr lang="en-US" sz="1200" dirty="0"/>
          </a:p>
        </p:txBody>
      </p:sp>
      <p:sp>
        <p:nvSpPr>
          <p:cNvPr id="15" name="Text 13"/>
          <p:cNvSpPr/>
          <p:nvPr/>
        </p:nvSpPr>
        <p:spPr>
          <a:xfrm>
            <a:off x="914400" y="2788920"/>
            <a:ext cx="3063240" cy="594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Production React &amp; Node architecture</a:t>
            </a:r>
            <a:endParaRPr lang="en-US" sz="950" dirty="0"/>
          </a:p>
        </p:txBody>
      </p:sp>
      <p:sp>
        <p:nvSpPr>
          <p:cNvPr id="16" name="Shape 14"/>
          <p:cNvSpPr/>
          <p:nvPr/>
        </p:nvSpPr>
        <p:spPr>
          <a:xfrm>
            <a:off x="4343400" y="1280160"/>
            <a:ext cx="3429000" cy="2286000"/>
          </a:xfrm>
          <a:prstGeom prst="roundRect">
            <a:avLst/>
          </a:prstGeom>
          <a:solidFill>
            <a:srgbClr val="FFFFFF"/>
          </a:solidFill>
          <a:ln w="12700">
            <a:solidFill>
              <a:srgbClr val="E2E8F0"/>
            </a:solidFill>
            <a:prstDash val="solid"/>
          </a:ln>
        </p:spPr>
      </p:sp>
      <p:sp>
        <p:nvSpPr>
          <p:cNvPr id="17" name="Shape 15"/>
          <p:cNvSpPr/>
          <p:nvPr/>
        </p:nvSpPr>
        <p:spPr>
          <a:xfrm>
            <a:off x="4343400" y="1280160"/>
            <a:ext cx="3429000" cy="73152"/>
          </a:xfrm>
          <a:prstGeom prst="rect">
            <a:avLst/>
          </a:prstGeom>
          <a:solidFill>
            <a:srgbClr val="7209B7"/>
          </a:solidFill>
          <a:ln/>
        </p:spPr>
      </p:sp>
      <p:sp>
        <p:nvSpPr>
          <p:cNvPr id="18" name="Text 16"/>
          <p:cNvSpPr/>
          <p:nvPr/>
        </p:nvSpPr>
        <p:spPr>
          <a:xfrm>
            <a:off x="4526280" y="1554480"/>
            <a:ext cx="3063240" cy="731520"/>
          </a:xfrm>
          <a:prstGeom prst="rect">
            <a:avLst/>
          </a:prstGeom>
          <a:noFill/>
          <a:ln/>
        </p:spPr>
        <p:txBody>
          <a:bodyPr wrap="square" rtlCol="0" anchor="ctr"/>
          <a:lstStyle/>
          <a:p>
            <a:pPr algn="ctr" indent="0" marL="0">
              <a:buNone/>
            </a:pPr>
            <a:r>
              <a:rPr lang="en-US" sz="3200" b="1" dirty="0">
                <a:solidFill>
                  <a:srgbClr val="7209B7"/>
                </a:solidFill>
                <a:latin typeface="Arial" pitchFamily="34" charset="0"/>
                <a:ea typeface="Arial" pitchFamily="34" charset="-122"/>
                <a:cs typeface="Arial" pitchFamily="34" charset="-120"/>
              </a:rPr>
              <a:t>100+</a:t>
            </a:r>
            <a:endParaRPr lang="en-US" sz="3200" dirty="0"/>
          </a:p>
        </p:txBody>
      </p:sp>
      <p:sp>
        <p:nvSpPr>
          <p:cNvPr id="19" name="Text 17"/>
          <p:cNvSpPr/>
          <p:nvPr/>
        </p:nvSpPr>
        <p:spPr>
          <a:xfrm>
            <a:off x="4526280" y="2331720"/>
            <a:ext cx="3063240" cy="411480"/>
          </a:xfrm>
          <a:prstGeom prst="rect">
            <a:avLst/>
          </a:prstGeom>
          <a:noFill/>
          <a:ln/>
        </p:spPr>
        <p:txBody>
          <a:bodyPr wrap="square" rtlCol="0" anchor="ctr"/>
          <a:lstStyle/>
          <a:p>
            <a:pPr algn="ctr" indent="0" marL="0">
              <a:buNone/>
            </a:pPr>
            <a:r>
              <a:rPr lang="en-US" sz="1200" b="1" dirty="0">
                <a:solidFill>
                  <a:srgbClr val="1C2541"/>
                </a:solidFill>
                <a:latin typeface="Arial" pitchFamily="34" charset="0"/>
                <a:ea typeface="Arial" pitchFamily="34" charset="-122"/>
                <a:cs typeface="Arial" pitchFamily="34" charset="-120"/>
              </a:rPr>
              <a:t>Frontend Components</a:t>
            </a:r>
            <a:endParaRPr lang="en-US" sz="1200" dirty="0"/>
          </a:p>
        </p:txBody>
      </p:sp>
      <p:sp>
        <p:nvSpPr>
          <p:cNvPr id="20" name="Text 18"/>
          <p:cNvSpPr/>
          <p:nvPr/>
        </p:nvSpPr>
        <p:spPr>
          <a:xfrm>
            <a:off x="4526280" y="2788920"/>
            <a:ext cx="3063240" cy="594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Modular UI with 10+ cataloging templates</a:t>
            </a:r>
            <a:endParaRPr lang="en-US" sz="950" dirty="0"/>
          </a:p>
        </p:txBody>
      </p:sp>
      <p:sp>
        <p:nvSpPr>
          <p:cNvPr id="21" name="Shape 19"/>
          <p:cNvSpPr/>
          <p:nvPr/>
        </p:nvSpPr>
        <p:spPr>
          <a:xfrm>
            <a:off x="7955280" y="1280160"/>
            <a:ext cx="3429000" cy="2286000"/>
          </a:xfrm>
          <a:prstGeom prst="roundRect">
            <a:avLst/>
          </a:prstGeom>
          <a:solidFill>
            <a:srgbClr val="FFFFFF"/>
          </a:solidFill>
          <a:ln w="12700">
            <a:solidFill>
              <a:srgbClr val="E2E8F0"/>
            </a:solidFill>
            <a:prstDash val="solid"/>
          </a:ln>
        </p:spPr>
      </p:sp>
      <p:sp>
        <p:nvSpPr>
          <p:cNvPr id="22" name="Shape 20"/>
          <p:cNvSpPr/>
          <p:nvPr/>
        </p:nvSpPr>
        <p:spPr>
          <a:xfrm>
            <a:off x="7955280" y="1280160"/>
            <a:ext cx="3429000" cy="73152"/>
          </a:xfrm>
          <a:prstGeom prst="rect">
            <a:avLst/>
          </a:prstGeom>
          <a:solidFill>
            <a:srgbClr val="10B981"/>
          </a:solidFill>
          <a:ln/>
        </p:spPr>
      </p:sp>
      <p:sp>
        <p:nvSpPr>
          <p:cNvPr id="23" name="Text 21"/>
          <p:cNvSpPr/>
          <p:nvPr/>
        </p:nvSpPr>
        <p:spPr>
          <a:xfrm>
            <a:off x="8138160" y="1554480"/>
            <a:ext cx="3063240" cy="731520"/>
          </a:xfrm>
          <a:prstGeom prst="rect">
            <a:avLst/>
          </a:prstGeom>
          <a:noFill/>
          <a:ln/>
        </p:spPr>
        <p:txBody>
          <a:bodyPr wrap="square" rtlCol="0" anchor="ctr"/>
          <a:lstStyle/>
          <a:p>
            <a:pPr algn="ctr" indent="0" marL="0">
              <a:buNone/>
            </a:pPr>
            <a:r>
              <a:rPr lang="en-US" sz="3200" b="1" dirty="0">
                <a:solidFill>
                  <a:srgbClr val="10B981"/>
                </a:solidFill>
                <a:latin typeface="Arial" pitchFamily="34" charset="0"/>
                <a:ea typeface="Arial" pitchFamily="34" charset="-122"/>
                <a:cs typeface="Arial" pitchFamily="34" charset="-120"/>
              </a:rPr>
              <a:t>166+</a:t>
            </a:r>
            <a:endParaRPr lang="en-US" sz="3200" dirty="0"/>
          </a:p>
        </p:txBody>
      </p:sp>
      <p:sp>
        <p:nvSpPr>
          <p:cNvPr id="24" name="Text 22"/>
          <p:cNvSpPr/>
          <p:nvPr/>
        </p:nvSpPr>
        <p:spPr>
          <a:xfrm>
            <a:off x="8138160" y="2331720"/>
            <a:ext cx="3063240" cy="411480"/>
          </a:xfrm>
          <a:prstGeom prst="rect">
            <a:avLst/>
          </a:prstGeom>
          <a:noFill/>
          <a:ln/>
        </p:spPr>
        <p:txBody>
          <a:bodyPr wrap="square" rtlCol="0" anchor="ctr"/>
          <a:lstStyle/>
          <a:p>
            <a:pPr algn="ctr" indent="0" marL="0">
              <a:buNone/>
            </a:pPr>
            <a:r>
              <a:rPr lang="en-US" sz="1200" b="1" dirty="0">
                <a:solidFill>
                  <a:srgbClr val="1C2541"/>
                </a:solidFill>
                <a:latin typeface="Arial" pitchFamily="34" charset="0"/>
                <a:ea typeface="Arial" pitchFamily="34" charset="-122"/>
                <a:cs typeface="Arial" pitchFamily="34" charset="-120"/>
              </a:rPr>
              <a:t>Backend API Routes</a:t>
            </a:r>
            <a:endParaRPr lang="en-US" sz="1200" dirty="0"/>
          </a:p>
        </p:txBody>
      </p:sp>
      <p:sp>
        <p:nvSpPr>
          <p:cNvPr id="25" name="Text 23"/>
          <p:cNvSpPr/>
          <p:nvPr/>
        </p:nvSpPr>
        <p:spPr>
          <a:xfrm>
            <a:off x="8138160" y="2788920"/>
            <a:ext cx="3063240" cy="594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Hono Web Engine on Supabase Functions</a:t>
            </a:r>
            <a:endParaRPr lang="en-US" sz="950" dirty="0"/>
          </a:p>
        </p:txBody>
      </p:sp>
      <p:sp>
        <p:nvSpPr>
          <p:cNvPr id="26" name="Shape 24"/>
          <p:cNvSpPr/>
          <p:nvPr/>
        </p:nvSpPr>
        <p:spPr>
          <a:xfrm>
            <a:off x="731520" y="3794760"/>
            <a:ext cx="3429000" cy="2286000"/>
          </a:xfrm>
          <a:prstGeom prst="roundRect">
            <a:avLst/>
          </a:prstGeom>
          <a:solidFill>
            <a:srgbClr val="FFFFFF"/>
          </a:solidFill>
          <a:ln w="12700">
            <a:solidFill>
              <a:srgbClr val="E2E8F0"/>
            </a:solidFill>
            <a:prstDash val="solid"/>
          </a:ln>
        </p:spPr>
      </p:sp>
      <p:sp>
        <p:nvSpPr>
          <p:cNvPr id="27" name="Shape 25"/>
          <p:cNvSpPr/>
          <p:nvPr/>
        </p:nvSpPr>
        <p:spPr>
          <a:xfrm>
            <a:off x="731520" y="3794760"/>
            <a:ext cx="3429000" cy="73152"/>
          </a:xfrm>
          <a:prstGeom prst="rect">
            <a:avLst/>
          </a:prstGeom>
          <a:solidFill>
            <a:srgbClr val="F4A261"/>
          </a:solidFill>
          <a:ln/>
        </p:spPr>
      </p:sp>
      <p:sp>
        <p:nvSpPr>
          <p:cNvPr id="28" name="Text 26"/>
          <p:cNvSpPr/>
          <p:nvPr/>
        </p:nvSpPr>
        <p:spPr>
          <a:xfrm>
            <a:off x="914400" y="4069080"/>
            <a:ext cx="3063240" cy="731520"/>
          </a:xfrm>
          <a:prstGeom prst="rect">
            <a:avLst/>
          </a:prstGeom>
          <a:noFill/>
          <a:ln/>
        </p:spPr>
        <p:txBody>
          <a:bodyPr wrap="square" rtlCol="0" anchor="ctr"/>
          <a:lstStyle/>
          <a:p>
            <a:pPr algn="ctr" indent="0" marL="0">
              <a:buNone/>
            </a:pPr>
            <a:r>
              <a:rPr lang="en-US" sz="3200" b="1" dirty="0">
                <a:solidFill>
                  <a:srgbClr val="F4A261"/>
                </a:solidFill>
                <a:latin typeface="Arial" pitchFamily="34" charset="0"/>
                <a:ea typeface="Arial" pitchFamily="34" charset="-122"/>
                <a:cs typeface="Arial" pitchFamily="34" charset="-120"/>
              </a:rPr>
              <a:t>19</a:t>
            </a:r>
            <a:endParaRPr lang="en-US" sz="3200" dirty="0"/>
          </a:p>
        </p:txBody>
      </p:sp>
      <p:sp>
        <p:nvSpPr>
          <p:cNvPr id="29" name="Text 27"/>
          <p:cNvSpPr/>
          <p:nvPr/>
        </p:nvSpPr>
        <p:spPr>
          <a:xfrm>
            <a:off x="914400" y="4846320"/>
            <a:ext cx="3063240" cy="411480"/>
          </a:xfrm>
          <a:prstGeom prst="rect">
            <a:avLst/>
          </a:prstGeom>
          <a:noFill/>
          <a:ln/>
        </p:spPr>
        <p:txBody>
          <a:bodyPr wrap="square" rtlCol="0" anchor="ctr"/>
          <a:lstStyle/>
          <a:p>
            <a:pPr algn="ctr" indent="0" marL="0">
              <a:buNone/>
            </a:pPr>
            <a:r>
              <a:rPr lang="en-US" sz="1200" b="1" dirty="0">
                <a:solidFill>
                  <a:srgbClr val="1C2541"/>
                </a:solidFill>
                <a:latin typeface="Arial" pitchFamily="34" charset="0"/>
                <a:ea typeface="Arial" pitchFamily="34" charset="-122"/>
                <a:cs typeface="Arial" pitchFamily="34" charset="-120"/>
              </a:rPr>
              <a:t>Discovery Sources</a:t>
            </a:r>
            <a:endParaRPr lang="en-US" sz="1200" dirty="0"/>
          </a:p>
        </p:txBody>
      </p:sp>
      <p:sp>
        <p:nvSpPr>
          <p:cNvPr id="30" name="Text 28"/>
          <p:cNvSpPr/>
          <p:nvPr/>
        </p:nvSpPr>
        <p:spPr>
          <a:xfrm>
            <a:off x="914400" y="5303520"/>
            <a:ext cx="3063240" cy="594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Simultaneous federated authority search</a:t>
            </a:r>
            <a:endParaRPr lang="en-US" sz="950" dirty="0"/>
          </a:p>
        </p:txBody>
      </p:sp>
      <p:sp>
        <p:nvSpPr>
          <p:cNvPr id="31" name="Shape 29"/>
          <p:cNvSpPr/>
          <p:nvPr/>
        </p:nvSpPr>
        <p:spPr>
          <a:xfrm>
            <a:off x="4343400" y="3794760"/>
            <a:ext cx="3429000" cy="2286000"/>
          </a:xfrm>
          <a:prstGeom prst="roundRect">
            <a:avLst/>
          </a:prstGeom>
          <a:solidFill>
            <a:srgbClr val="FFFFFF"/>
          </a:solidFill>
          <a:ln w="12700">
            <a:solidFill>
              <a:srgbClr val="E2E8F0"/>
            </a:solidFill>
            <a:prstDash val="solid"/>
          </a:ln>
        </p:spPr>
      </p:sp>
      <p:sp>
        <p:nvSpPr>
          <p:cNvPr id="32" name="Shape 30"/>
          <p:cNvSpPr/>
          <p:nvPr/>
        </p:nvSpPr>
        <p:spPr>
          <a:xfrm>
            <a:off x="4343400" y="3794760"/>
            <a:ext cx="3429000" cy="73152"/>
          </a:xfrm>
          <a:prstGeom prst="rect">
            <a:avLst/>
          </a:prstGeom>
          <a:solidFill>
            <a:srgbClr val="E63946"/>
          </a:solidFill>
          <a:ln/>
        </p:spPr>
      </p:sp>
      <p:sp>
        <p:nvSpPr>
          <p:cNvPr id="33" name="Text 31"/>
          <p:cNvSpPr/>
          <p:nvPr/>
        </p:nvSpPr>
        <p:spPr>
          <a:xfrm>
            <a:off x="4526280" y="4069080"/>
            <a:ext cx="3063240" cy="731520"/>
          </a:xfrm>
          <a:prstGeom prst="rect">
            <a:avLst/>
          </a:prstGeom>
          <a:noFill/>
          <a:ln/>
        </p:spPr>
        <p:txBody>
          <a:bodyPr wrap="square" rtlCol="0" anchor="ctr"/>
          <a:lstStyle/>
          <a:p>
            <a:pPr algn="ctr" indent="0" marL="0">
              <a:buNone/>
            </a:pPr>
            <a:r>
              <a:rPr lang="en-US" sz="3200" b="1" dirty="0">
                <a:solidFill>
                  <a:srgbClr val="E63946"/>
                </a:solidFill>
                <a:latin typeface="Arial" pitchFamily="34" charset="0"/>
                <a:ea typeface="Arial" pitchFamily="34" charset="-122"/>
                <a:cs typeface="Arial" pitchFamily="34" charset="-120"/>
              </a:rPr>
              <a:t>377+</a:t>
            </a:r>
            <a:endParaRPr lang="en-US" sz="3200" dirty="0"/>
          </a:p>
        </p:txBody>
      </p:sp>
      <p:sp>
        <p:nvSpPr>
          <p:cNvPr id="34" name="Text 32"/>
          <p:cNvSpPr/>
          <p:nvPr/>
        </p:nvSpPr>
        <p:spPr>
          <a:xfrm>
            <a:off x="4526280" y="4846320"/>
            <a:ext cx="3063240" cy="411480"/>
          </a:xfrm>
          <a:prstGeom prst="rect">
            <a:avLst/>
          </a:prstGeom>
          <a:noFill/>
          <a:ln/>
        </p:spPr>
        <p:txBody>
          <a:bodyPr wrap="square" rtlCol="0" anchor="ctr"/>
          <a:lstStyle/>
          <a:p>
            <a:pPr algn="ctr" indent="0" marL="0">
              <a:buNone/>
            </a:pPr>
            <a:r>
              <a:rPr lang="en-US" sz="1200" b="1" dirty="0">
                <a:solidFill>
                  <a:srgbClr val="1C2541"/>
                </a:solidFill>
                <a:latin typeface="Arial" pitchFamily="34" charset="0"/>
                <a:ea typeface="Arial" pitchFamily="34" charset="-122"/>
                <a:cs typeface="Arial" pitchFamily="34" charset="-120"/>
              </a:rPr>
              <a:t>MARC21 Mappings</a:t>
            </a:r>
            <a:endParaRPr lang="en-US" sz="1200" dirty="0"/>
          </a:p>
        </p:txBody>
      </p:sp>
      <p:sp>
        <p:nvSpPr>
          <p:cNvPr id="35" name="Text 33"/>
          <p:cNvSpPr/>
          <p:nvPr/>
        </p:nvSpPr>
        <p:spPr>
          <a:xfrm>
            <a:off x="4526280" y="5303520"/>
            <a:ext cx="3063240" cy="594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100% field coverage &amp; FOLIO LSP modules</a:t>
            </a:r>
            <a:endParaRPr lang="en-US" sz="950" dirty="0"/>
          </a:p>
        </p:txBody>
      </p:sp>
      <p:sp>
        <p:nvSpPr>
          <p:cNvPr id="36" name="Shape 34"/>
          <p:cNvSpPr/>
          <p:nvPr/>
        </p:nvSpPr>
        <p:spPr>
          <a:xfrm>
            <a:off x="7955280" y="3794760"/>
            <a:ext cx="3429000" cy="2286000"/>
          </a:xfrm>
          <a:prstGeom prst="roundRect">
            <a:avLst/>
          </a:prstGeom>
          <a:solidFill>
            <a:srgbClr val="FFFFFF"/>
          </a:solidFill>
          <a:ln w="12700">
            <a:solidFill>
              <a:srgbClr val="E2E8F0"/>
            </a:solidFill>
            <a:prstDash val="solid"/>
          </a:ln>
        </p:spPr>
      </p:sp>
      <p:sp>
        <p:nvSpPr>
          <p:cNvPr id="37" name="Shape 35"/>
          <p:cNvSpPr/>
          <p:nvPr/>
        </p:nvSpPr>
        <p:spPr>
          <a:xfrm>
            <a:off x="7955280" y="3794760"/>
            <a:ext cx="3429000" cy="73152"/>
          </a:xfrm>
          <a:prstGeom prst="rect">
            <a:avLst/>
          </a:prstGeom>
          <a:solidFill>
            <a:srgbClr val="2A9D8F"/>
          </a:solidFill>
          <a:ln/>
        </p:spPr>
      </p:sp>
      <p:sp>
        <p:nvSpPr>
          <p:cNvPr id="38" name="Text 36"/>
          <p:cNvSpPr/>
          <p:nvPr/>
        </p:nvSpPr>
        <p:spPr>
          <a:xfrm>
            <a:off x="8138160" y="4069080"/>
            <a:ext cx="3063240" cy="731520"/>
          </a:xfrm>
          <a:prstGeom prst="rect">
            <a:avLst/>
          </a:prstGeom>
          <a:noFill/>
          <a:ln/>
        </p:spPr>
        <p:txBody>
          <a:bodyPr wrap="square" rtlCol="0" anchor="ctr"/>
          <a:lstStyle/>
          <a:p>
            <a:pPr algn="ctr" indent="0" marL="0">
              <a:buNone/>
            </a:pPr>
            <a:r>
              <a:rPr lang="en-US" sz="3200" b="1" dirty="0">
                <a:solidFill>
                  <a:srgbClr val="2A9D8F"/>
                </a:solidFill>
                <a:latin typeface="Arial" pitchFamily="34" charset="0"/>
                <a:ea typeface="Arial" pitchFamily="34" charset="-122"/>
                <a:cs typeface="Arial" pitchFamily="34" charset="-120"/>
              </a:rPr>
              <a:t>15</a:t>
            </a:r>
            <a:endParaRPr lang="en-US" sz="3200" dirty="0"/>
          </a:p>
        </p:txBody>
      </p:sp>
      <p:sp>
        <p:nvSpPr>
          <p:cNvPr id="39" name="Text 37"/>
          <p:cNvSpPr/>
          <p:nvPr/>
        </p:nvSpPr>
        <p:spPr>
          <a:xfrm>
            <a:off x="8138160" y="4846320"/>
            <a:ext cx="3063240" cy="411480"/>
          </a:xfrm>
          <a:prstGeom prst="rect">
            <a:avLst/>
          </a:prstGeom>
          <a:noFill/>
          <a:ln/>
        </p:spPr>
        <p:txBody>
          <a:bodyPr wrap="square" rtlCol="0" anchor="ctr"/>
          <a:lstStyle/>
          <a:p>
            <a:pPr algn="ctr" indent="0" marL="0">
              <a:buNone/>
            </a:pPr>
            <a:r>
              <a:rPr lang="en-US" sz="1200" b="1" dirty="0">
                <a:solidFill>
                  <a:srgbClr val="1C2541"/>
                </a:solidFill>
                <a:latin typeface="Arial" pitchFamily="34" charset="0"/>
                <a:ea typeface="Arial" pitchFamily="34" charset="-122"/>
                <a:cs typeface="Arial" pitchFamily="34" charset="-120"/>
              </a:rPr>
              <a:t>PostgreSQL Tables</a:t>
            </a:r>
            <a:endParaRPr lang="en-US" sz="1200" dirty="0"/>
          </a:p>
        </p:txBody>
      </p:sp>
      <p:sp>
        <p:nvSpPr>
          <p:cNvPr id="40" name="Text 38"/>
          <p:cNvSpPr/>
          <p:nvPr/>
        </p:nvSpPr>
        <p:spPr>
          <a:xfrm>
            <a:off x="8138160" y="5303520"/>
            <a:ext cx="3063240" cy="594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Normalized schema + RDF Triple Store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ARCHITECTURE BLUEPRINT</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Enterprise Architecture: High-Level System Layers</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4 of 16</a:t>
            </a:r>
            <a:endParaRPr lang="en-US" sz="850" dirty="0"/>
          </a:p>
        </p:txBody>
      </p:sp>
      <p:sp>
        <p:nvSpPr>
          <p:cNvPr id="11" name="Shape 9"/>
          <p:cNvSpPr/>
          <p:nvPr/>
        </p:nvSpPr>
        <p:spPr>
          <a:xfrm>
            <a:off x="731520" y="1234440"/>
            <a:ext cx="10728655" cy="1572768"/>
          </a:xfrm>
          <a:prstGeom prst="roundRect">
            <a:avLst/>
          </a:prstGeom>
          <a:solidFill>
            <a:srgbClr val="FFFFFF"/>
          </a:solidFill>
          <a:ln w="12700">
            <a:solidFill>
              <a:srgbClr val="E2E8F0"/>
            </a:solidFill>
            <a:prstDash val="solid"/>
          </a:ln>
        </p:spPr>
      </p:sp>
      <p:sp>
        <p:nvSpPr>
          <p:cNvPr id="12" name="Shape 10"/>
          <p:cNvSpPr/>
          <p:nvPr/>
        </p:nvSpPr>
        <p:spPr>
          <a:xfrm>
            <a:off x="731520" y="1234440"/>
            <a:ext cx="164592" cy="1572768"/>
          </a:xfrm>
          <a:prstGeom prst="rect">
            <a:avLst/>
          </a:prstGeom>
          <a:solidFill>
            <a:srgbClr val="0071E3"/>
          </a:solidFill>
          <a:ln/>
        </p:spPr>
      </p:sp>
      <p:sp>
        <p:nvSpPr>
          <p:cNvPr id="13" name="Text 11"/>
          <p:cNvSpPr/>
          <p:nvPr/>
        </p:nvSpPr>
        <p:spPr>
          <a:xfrm>
            <a:off x="1051560" y="1344168"/>
            <a:ext cx="594360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1. PRESENTATION LAYER (Client)</a:t>
            </a:r>
            <a:endParaRPr lang="en-US" sz="1200" dirty="0"/>
          </a:p>
        </p:txBody>
      </p:sp>
      <p:sp>
        <p:nvSpPr>
          <p:cNvPr id="14" name="Text 12"/>
          <p:cNvSpPr/>
          <p:nvPr/>
        </p:nvSpPr>
        <p:spPr>
          <a:xfrm>
            <a:off x="7040880" y="1344168"/>
            <a:ext cx="4206240" cy="320040"/>
          </a:xfrm>
          <a:prstGeom prst="rect">
            <a:avLst/>
          </a:prstGeom>
          <a:noFill/>
          <a:ln/>
        </p:spPr>
        <p:txBody>
          <a:bodyPr wrap="square" rtlCol="0" anchor="ctr"/>
          <a:lstStyle/>
          <a:p>
            <a:pPr algn="r" indent="0" marL="0">
              <a:buNone/>
            </a:pPr>
            <a:r>
              <a:rPr lang="en-US" sz="900" b="1" dirty="0">
                <a:solidFill>
                  <a:srgbClr val="0071E3"/>
                </a:solidFill>
                <a:latin typeface="Arial" pitchFamily="34" charset="0"/>
                <a:ea typeface="Arial" pitchFamily="34" charset="-122"/>
                <a:cs typeface="Arial" pitchFamily="34" charset="-120"/>
              </a:rPr>
              <a:t>React 18.3.1 • TypeScript 5 • Tailwind CSS v4 • Radix UI • Framer Motion • Three.js 3D</a:t>
            </a:r>
            <a:endParaRPr lang="en-US" sz="900" dirty="0"/>
          </a:p>
        </p:txBody>
      </p:sp>
      <p:sp>
        <p:nvSpPr>
          <p:cNvPr id="15" name="Text 13"/>
          <p:cNvSpPr/>
          <p:nvPr/>
        </p:nvSpPr>
        <p:spPr>
          <a:xfrm>
            <a:off x="1051560" y="1691640"/>
            <a:ext cx="10149840" cy="100584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Three-Pane Cataloging Workspace (Work, Instance, Preview)</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10+ Cataloging Templates (BlueMoon, WolfMoon, MoonDijla, Sonic, KAMI)</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Bilingual LTR/RTL Engine with Apple Store theme system (iOS 26, macOS, Classic)</a:t>
            </a:r>
            <a:endParaRPr lang="en-US" sz="950" dirty="0"/>
          </a:p>
        </p:txBody>
      </p:sp>
      <p:sp>
        <p:nvSpPr>
          <p:cNvPr id="16" name="Shape 14"/>
          <p:cNvSpPr/>
          <p:nvPr/>
        </p:nvSpPr>
        <p:spPr>
          <a:xfrm>
            <a:off x="731520" y="2953512"/>
            <a:ext cx="10728655" cy="1572768"/>
          </a:xfrm>
          <a:prstGeom prst="roundRect">
            <a:avLst/>
          </a:prstGeom>
          <a:solidFill>
            <a:srgbClr val="FFFFFF"/>
          </a:solidFill>
          <a:ln w="12700">
            <a:solidFill>
              <a:srgbClr val="E2E8F0"/>
            </a:solidFill>
            <a:prstDash val="solid"/>
          </a:ln>
        </p:spPr>
      </p:sp>
      <p:sp>
        <p:nvSpPr>
          <p:cNvPr id="17" name="Shape 15"/>
          <p:cNvSpPr/>
          <p:nvPr/>
        </p:nvSpPr>
        <p:spPr>
          <a:xfrm>
            <a:off x="731520" y="2953512"/>
            <a:ext cx="164592" cy="1572768"/>
          </a:xfrm>
          <a:prstGeom prst="rect">
            <a:avLst/>
          </a:prstGeom>
          <a:solidFill>
            <a:srgbClr val="7209B7"/>
          </a:solidFill>
          <a:ln/>
        </p:spPr>
      </p:sp>
      <p:sp>
        <p:nvSpPr>
          <p:cNvPr id="18" name="Text 16"/>
          <p:cNvSpPr/>
          <p:nvPr/>
        </p:nvSpPr>
        <p:spPr>
          <a:xfrm>
            <a:off x="1051560" y="3063240"/>
            <a:ext cx="594360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2. BUSINESS &amp; API GATEWAY LAYER (Edge Server)</a:t>
            </a:r>
            <a:endParaRPr lang="en-US" sz="1200" dirty="0"/>
          </a:p>
        </p:txBody>
      </p:sp>
      <p:sp>
        <p:nvSpPr>
          <p:cNvPr id="19" name="Text 17"/>
          <p:cNvSpPr/>
          <p:nvPr/>
        </p:nvSpPr>
        <p:spPr>
          <a:xfrm>
            <a:off x="7040880" y="3063240"/>
            <a:ext cx="4206240" cy="320040"/>
          </a:xfrm>
          <a:prstGeom prst="rect">
            <a:avLst/>
          </a:prstGeom>
          <a:noFill/>
          <a:ln/>
        </p:spPr>
        <p:txBody>
          <a:bodyPr wrap="square" rtlCol="0" anchor="ctr"/>
          <a:lstStyle/>
          <a:p>
            <a:pPr algn="r" indent="0" marL="0">
              <a:buNone/>
            </a:pPr>
            <a:r>
              <a:rPr lang="en-US" sz="900" b="1" dirty="0">
                <a:solidFill>
                  <a:srgbClr val="7209B7"/>
                </a:solidFill>
                <a:latin typeface="Arial" pitchFamily="34" charset="0"/>
                <a:ea typeface="Arial" pitchFamily="34" charset="-122"/>
                <a:cs typeface="Arial" pitchFamily="34" charset="-120"/>
              </a:rPr>
              <a:t>Deno Runtime • Hono Framework • Supabase Edge Functions • Multi-AI Router</a:t>
            </a:r>
            <a:endParaRPr lang="en-US" sz="900" dirty="0"/>
          </a:p>
        </p:txBody>
      </p:sp>
      <p:sp>
        <p:nvSpPr>
          <p:cNvPr id="20" name="Text 18"/>
          <p:cNvSpPr/>
          <p:nvPr/>
        </p:nvSpPr>
        <p:spPr>
          <a:xfrm>
            <a:off x="1051560" y="3410712"/>
            <a:ext cx="10149840" cy="100584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Dynamic BIBFRAME Ontology Engine &amp; Property-Authority Binder</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5-Phase Multi-AI Orchestrator (OpenAI, Gemini 1.5, LLaMA) with Circuit Breaker</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Bidirectional MARC21/JSON-LD Converter, LC Cutter &amp; ScriptShifter Engines</a:t>
            </a:r>
            <a:endParaRPr lang="en-US" sz="950" dirty="0"/>
          </a:p>
        </p:txBody>
      </p:sp>
      <p:sp>
        <p:nvSpPr>
          <p:cNvPr id="21" name="Shape 19"/>
          <p:cNvSpPr/>
          <p:nvPr/>
        </p:nvSpPr>
        <p:spPr>
          <a:xfrm>
            <a:off x="731520" y="4672584"/>
            <a:ext cx="10728655" cy="1572768"/>
          </a:xfrm>
          <a:prstGeom prst="roundRect">
            <a:avLst/>
          </a:prstGeom>
          <a:solidFill>
            <a:srgbClr val="FFFFFF"/>
          </a:solidFill>
          <a:ln w="12700">
            <a:solidFill>
              <a:srgbClr val="E2E8F0"/>
            </a:solidFill>
            <a:prstDash val="solid"/>
          </a:ln>
        </p:spPr>
      </p:sp>
      <p:sp>
        <p:nvSpPr>
          <p:cNvPr id="22" name="Shape 20"/>
          <p:cNvSpPr/>
          <p:nvPr/>
        </p:nvSpPr>
        <p:spPr>
          <a:xfrm>
            <a:off x="731520" y="4672584"/>
            <a:ext cx="164592" cy="1572768"/>
          </a:xfrm>
          <a:prstGeom prst="rect">
            <a:avLst/>
          </a:prstGeom>
          <a:solidFill>
            <a:srgbClr val="10B981"/>
          </a:solidFill>
          <a:ln/>
        </p:spPr>
      </p:sp>
      <p:sp>
        <p:nvSpPr>
          <p:cNvPr id="23" name="Text 21"/>
          <p:cNvSpPr/>
          <p:nvPr/>
        </p:nvSpPr>
        <p:spPr>
          <a:xfrm>
            <a:off x="1051560" y="4782312"/>
            <a:ext cx="594360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3. STORAGE &amp; TRIPLE STORE LAYER (Database)</a:t>
            </a:r>
            <a:endParaRPr lang="en-US" sz="1200" dirty="0"/>
          </a:p>
        </p:txBody>
      </p:sp>
      <p:sp>
        <p:nvSpPr>
          <p:cNvPr id="24" name="Text 22"/>
          <p:cNvSpPr/>
          <p:nvPr/>
        </p:nvSpPr>
        <p:spPr>
          <a:xfrm>
            <a:off x="7040880" y="4782312"/>
            <a:ext cx="4206240" cy="320040"/>
          </a:xfrm>
          <a:prstGeom prst="rect">
            <a:avLst/>
          </a:prstGeom>
          <a:noFill/>
          <a:ln/>
        </p:spPr>
        <p:txBody>
          <a:bodyPr wrap="square" rtlCol="0" anchor="ctr"/>
          <a:lstStyle/>
          <a:p>
            <a:pPr algn="r" indent="0" marL="0">
              <a:buNone/>
            </a:pPr>
            <a:r>
              <a:rPr lang="en-US" sz="900" b="1" dirty="0">
                <a:solidFill>
                  <a:srgbClr val="10B981"/>
                </a:solidFill>
                <a:latin typeface="Arial" pitchFamily="34" charset="0"/>
                <a:ea typeface="Arial" pitchFamily="34" charset="-122"/>
                <a:cs typeface="Arial" pitchFamily="34" charset="-120"/>
              </a:rPr>
              <a:t>PostgreSQL (Supabase) • 15 Normalized Tables • pg_trgm Fuzzy Search • RLS</a:t>
            </a:r>
            <a:endParaRPr lang="en-US" sz="900" dirty="0"/>
          </a:p>
        </p:txBody>
      </p:sp>
      <p:sp>
        <p:nvSpPr>
          <p:cNvPr id="25" name="Text 23"/>
          <p:cNvSpPr/>
          <p:nvPr/>
        </p:nvSpPr>
        <p:spPr>
          <a:xfrm>
            <a:off x="1051560" y="5129784"/>
            <a:ext cx="10149840" cy="100584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Hybrid Relational &amp; RDF Triple Store (records, triples, named_graphs, authorities)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Complete Audit Logging, JSON Snapshot Version Control &amp; JCricket Provenance</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24-Hour Cache Layer for Remote Authorities and Linked Data Endpoints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ONTOLOGY CORE</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BIBFRAME 2.0 &amp; 3.0 Dynamic Ontology Engine</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5 of 16</a:t>
            </a:r>
            <a:endParaRPr lang="en-US" sz="850" dirty="0"/>
          </a:p>
        </p:txBody>
      </p:sp>
      <p:sp>
        <p:nvSpPr>
          <p:cNvPr id="11" name="Shape 9"/>
          <p:cNvSpPr/>
          <p:nvPr/>
        </p:nvSpPr>
        <p:spPr>
          <a:xfrm>
            <a:off x="731520" y="1280160"/>
            <a:ext cx="6217920" cy="5029200"/>
          </a:xfrm>
          <a:prstGeom prst="roundRect">
            <a:avLst/>
          </a:prstGeom>
          <a:solidFill>
            <a:srgbClr val="FFFFFF"/>
          </a:solidFill>
          <a:ln w="12700">
            <a:solidFill>
              <a:srgbClr val="E2E8F0"/>
            </a:solidFill>
            <a:prstDash val="solid"/>
          </a:ln>
        </p:spPr>
      </p:sp>
      <p:sp>
        <p:nvSpPr>
          <p:cNvPr id="12" name="Text 10"/>
          <p:cNvSpPr/>
          <p:nvPr/>
        </p:nvSpPr>
        <p:spPr>
          <a:xfrm>
            <a:off x="914400" y="1417320"/>
            <a:ext cx="585216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Core BIBFRAME Entities &amp; Class Mappings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828800"/>
          <a:ext cx="5852160" cy="4206240"/>
        </p:xfrm>
        <a:graphic>
          <a:graphicData uri="http://schemas.openxmlformats.org/drawingml/2006/table">
            <a:tbl>
              <a:tblPr/>
              <a:tblGrid>
                <a:gridCol w="1188720"/>
                <a:gridCol w="2103120"/>
                <a:gridCol w="2560320"/>
              </a:tblGrid>
              <a:tr h="600891">
                <a:tc>
                  <a:txBody>
                    <a:bodyPr/>
                    <a:lstStyle/>
                    <a:p>
                      <a:pPr indent="0" marL="0">
                        <a:buNone/>
                      </a:pPr>
                      <a:r>
                        <a:rPr lang="en-US" sz="850" b="1" dirty="0">
                          <a:solidFill>
                            <a:srgbClr val="1C2541"/>
                          </a:solidFill>
                          <a:latin typeface="Arial" pitchFamily="34" charset="0"/>
                          <a:ea typeface="Arial" pitchFamily="34" charset="-122"/>
                          <a:cs typeface="Arial" pitchFamily="34" charset="-120"/>
                        </a:rPr>
                        <a:t>Class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1C2541"/>
                          </a:solidFill>
                          <a:latin typeface="Arial" pitchFamily="34" charset="0"/>
                          <a:ea typeface="Arial" pitchFamily="34" charset="-122"/>
                          <a:cs typeface="Arial" pitchFamily="34" charset="-120"/>
                        </a:rPr>
                        <a:t>RDF URI Identifier</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1C2541"/>
                          </a:solidFill>
                          <a:latin typeface="Arial" pitchFamily="34" charset="0"/>
                          <a:ea typeface="Arial" pitchFamily="34" charset="-122"/>
                          <a:cs typeface="Arial" pitchFamily="34" charset="-120"/>
                        </a:rPr>
                        <a:t>Key Properties &amp; Functional Role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600891">
                <a:tc>
                  <a:txBody>
                    <a:bodyPr/>
                    <a:lstStyle/>
                    <a:p>
                      <a:pPr indent="0" marL="0">
                        <a:buNone/>
                      </a:pPr>
                      <a:r>
                        <a:rPr lang="en-US" sz="850" dirty="0">
                          <a:solidFill>
                            <a:srgbClr val="000000"/>
                          </a:solidFill>
                          <a:latin typeface="Arial" pitchFamily="34" charset="0"/>
                          <a:ea typeface="Arial" pitchFamily="34" charset="-122"/>
                          <a:cs typeface="Arial" pitchFamily="34" charset="-120"/>
                        </a:rPr>
                        <a:t>bf:Work</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.../ontologies/bibframe/Work</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Conceptual content: title, creator, subject, genre, LCC/DDC</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00891">
                <a:tc>
                  <a:txBody>
                    <a:bodyPr/>
                    <a:lstStyle/>
                    <a:p>
                      <a:pPr indent="0" marL="0">
                        <a:buNone/>
                      </a:pPr>
                      <a:r>
                        <a:rPr lang="en-US" sz="850" dirty="0">
                          <a:solidFill>
                            <a:srgbClr val="000000"/>
                          </a:solidFill>
                          <a:latin typeface="Arial" pitchFamily="34" charset="0"/>
                          <a:ea typeface="Arial" pitchFamily="34" charset="-122"/>
                          <a:cs typeface="Arial" pitchFamily="34" charset="-120"/>
                        </a:rPr>
                        <a:t>bf:Instance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.../ontologies/bibframe/Instance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Physical manifestation: publication, ISBN, edition, extent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00891">
                <a:tc>
                  <a:txBody>
                    <a:bodyPr/>
                    <a:lstStyle/>
                    <a:p>
                      <a:pPr indent="0" marL="0">
                        <a:buNone/>
                      </a:pPr>
                      <a:r>
                        <a:rPr lang="en-US" sz="850" dirty="0">
                          <a:solidFill>
                            <a:srgbClr val="000000"/>
                          </a:solidFill>
                          <a:latin typeface="Arial" pitchFamily="34" charset="0"/>
                          <a:ea typeface="Arial" pitchFamily="34" charset="-122"/>
                          <a:cs typeface="Arial" pitchFamily="34" charset="-120"/>
                        </a:rPr>
                        <a:t>bf:Item</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.../ontologies/bibframe/Item</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Single physical copy: barcode, shelf location, holdings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00891">
                <a:tc>
                  <a:txBody>
                    <a:bodyPr/>
                    <a:lstStyle/>
                    <a:p>
                      <a:pPr indent="0" marL="0">
                        <a:buNone/>
                      </a:pPr>
                      <a:r>
                        <a:rPr lang="en-US" sz="850" dirty="0">
                          <a:solidFill>
                            <a:srgbClr val="000000"/>
                          </a:solidFill>
                          <a:latin typeface="Arial" pitchFamily="34" charset="0"/>
                          <a:ea typeface="Arial" pitchFamily="34" charset="-122"/>
                          <a:cs typeface="Arial" pitchFamily="34" charset="-120"/>
                        </a:rPr>
                        <a:t>bf:Agent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.../ontologies/bibframe/Agent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Person, Meeting, Organization, Family, Jurisdiction</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00891">
                <a:tc>
                  <a:txBody>
                    <a:bodyPr/>
                    <a:lstStyle/>
                    <a:p>
                      <a:pPr indent="0" marL="0">
                        <a:buNone/>
                      </a:pPr>
                      <a:r>
                        <a:rPr lang="en-US" sz="850" dirty="0">
                          <a:solidFill>
                            <a:srgbClr val="000000"/>
                          </a:solidFill>
                          <a:latin typeface="Arial" pitchFamily="34" charset="0"/>
                          <a:ea typeface="Arial" pitchFamily="34" charset="-122"/>
                          <a:cs typeface="Arial" pitchFamily="34" charset="-120"/>
                        </a:rPr>
                        <a:t>bf:Subject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.../ontologies/bibframe/Subject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Topic, Place, Temporal, Complex LCSH headings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600891">
                <a:tc>
                  <a:txBody>
                    <a:bodyPr/>
                    <a:lstStyle/>
                    <a:p>
                      <a:pPr indent="0" marL="0">
                        <a:buNone/>
                      </a:pPr>
                      <a:r>
                        <a:rPr lang="en-US" sz="850" dirty="0">
                          <a:solidFill>
                            <a:srgbClr val="000000"/>
                          </a:solidFill>
                          <a:latin typeface="Arial" pitchFamily="34" charset="0"/>
                          <a:ea typeface="Arial" pitchFamily="34" charset="-122"/>
                          <a:cs typeface="Arial" pitchFamily="34" charset="-120"/>
                        </a:rPr>
                        <a:t>bf:ProvisionActivity</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.../ontologies/bibframe/ProvisionActivity</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Publication, Production, Distribution, Manufacture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4" name="Shape 11"/>
          <p:cNvSpPr/>
          <p:nvPr/>
        </p:nvSpPr>
        <p:spPr>
          <a:xfrm>
            <a:off x="7132320" y="1280160"/>
            <a:ext cx="4327855" cy="5029200"/>
          </a:xfrm>
          <a:prstGeom prst="roundRect">
            <a:avLst/>
          </a:prstGeom>
          <a:solidFill>
            <a:srgbClr val="FFFFFF"/>
          </a:solidFill>
          <a:ln w="12700">
            <a:solidFill>
              <a:srgbClr val="E2E8F0"/>
            </a:solidFill>
            <a:prstDash val="solid"/>
          </a:ln>
        </p:spPr>
      </p:sp>
      <p:sp>
        <p:nvSpPr>
          <p:cNvPr id="15" name="Text 12"/>
          <p:cNvSpPr/>
          <p:nvPr/>
        </p:nvSpPr>
        <p:spPr>
          <a:xfrm>
            <a:off x="7315200" y="1417320"/>
            <a:ext cx="393192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Dynamic Binding Architecture</a:t>
            </a:r>
            <a:endParaRPr lang="en-US" sz="1250" dirty="0"/>
          </a:p>
        </p:txBody>
      </p:sp>
      <p:sp>
        <p:nvSpPr>
          <p:cNvPr id="16" name="Text 13"/>
          <p:cNvSpPr/>
          <p:nvPr/>
        </p:nvSpPr>
        <p:spPr>
          <a:xfrm>
            <a:off x="7315200" y="1874520"/>
            <a:ext cx="3931920" cy="4206240"/>
          </a:xfrm>
          <a:prstGeom prst="rect">
            <a:avLst/>
          </a:prstGeom>
          <a:noFill/>
          <a:ln/>
        </p:spPr>
        <p:txBody>
          <a:bodyPr wrap="square" rtlCol="0" anchor="ctr"/>
          <a:lstStyle/>
          <a:p>
            <a:pPr indent="0" marL="0">
              <a:buNone/>
            </a:pPr>
            <a:r>
              <a:rPr lang="en-US" sz="950" b="1" dirty="0">
                <a:solidFill>
                  <a:srgbClr val="0071E3"/>
                </a:solidFill>
                <a:latin typeface="Arial" pitchFamily="34" charset="0"/>
                <a:ea typeface="Arial" pitchFamily="34" charset="-122"/>
                <a:cs typeface="Arial" pitchFamily="34" charset="-120"/>
              </a:rPr>
              <a:t>• No Hardcoded UI Schemas:
</a:t>
            </a:r>
            <a:pPr indent="0" marL="0">
              <a:buNone/>
            </a:pPr>
            <a:r>
              <a:rPr lang="en-US" sz="950" dirty="0">
                <a:solidFill>
                  <a:srgbClr val="1E293B"/>
                </a:solidFill>
                <a:latin typeface="Arial" pitchFamily="34" charset="0"/>
                <a:ea typeface="Arial" pitchFamily="34" charset="-122"/>
                <a:cs typeface="Arial" pitchFamily="34" charset="-120"/>
              </a:rPr>
              <a:t>Every cataloging field is loaded at runtime from official Library of Congress RDF ontology files.
</a:t>
            </a:r>
            <a:pPr indent="0" marL="0">
              <a:buNone/>
            </a:pPr>
            <a:r>
              <a:rPr lang="en-US" sz="950" b="1" dirty="0">
                <a:solidFill>
                  <a:srgbClr val="0071E3"/>
                </a:solidFill>
                <a:latin typeface="Arial" pitchFamily="34" charset="0"/>
                <a:ea typeface="Arial" pitchFamily="34" charset="-122"/>
                <a:cs typeface="Arial" pitchFamily="34" charset="-120"/>
              </a:rPr>
              <a:t>• Strict Domain &amp; Range Checking:
</a:t>
            </a:r>
            <a:pPr indent="0" marL="0">
              <a:buNone/>
            </a:pPr>
            <a:r>
              <a:rPr lang="en-US" sz="950" dirty="0">
                <a:solidFill>
                  <a:srgbClr val="1E293B"/>
                </a:solidFill>
                <a:latin typeface="Arial" pitchFamily="34" charset="0"/>
                <a:ea typeface="Arial" pitchFamily="34" charset="-122"/>
                <a:cs typeface="Arial" pitchFamily="34" charset="-120"/>
              </a:rPr>
              <a:t>Prevents invalid RDF predicate attachments (e.g. attaching bf:isbn to bf:Work instead of bf:Instance).
</a:t>
            </a:r>
            <a:pPr indent="0" marL="0">
              <a:buNone/>
            </a:pPr>
            <a:r>
              <a:rPr lang="en-US" sz="950" b="1" dirty="0">
                <a:solidFill>
                  <a:srgbClr val="0071E3"/>
                </a:solidFill>
                <a:latin typeface="Arial" pitchFamily="34" charset="0"/>
                <a:ea typeface="Arial" pitchFamily="34" charset="-122"/>
                <a:cs typeface="Arial" pitchFamily="34" charset="-120"/>
              </a:rPr>
              <a:t>• Linked Data Graph Assembly:
</a:t>
            </a:r>
            <a:pPr indent="0" marL="0">
              <a:buNone/>
            </a:pPr>
            <a:r>
              <a:rPr lang="en-US" sz="950" dirty="0">
                <a:solidFill>
                  <a:srgbClr val="1E293B"/>
                </a:solidFill>
                <a:latin typeface="Arial" pitchFamily="34" charset="0"/>
                <a:ea typeface="Arial" pitchFamily="34" charset="-122"/>
                <a:cs typeface="Arial" pitchFamily="34" charset="-120"/>
              </a:rPr>
              <a:t>Generates valid W3C @context, @graph, and @id references rather than disconnected literal values.
</a:t>
            </a:r>
            <a:pPr indent="0" marL="0">
              <a:buNone/>
            </a:pPr>
            <a:r>
              <a:rPr lang="en-US" sz="950" b="1" dirty="0">
                <a:solidFill>
                  <a:srgbClr val="0071E3"/>
                </a:solidFill>
                <a:latin typeface="Arial" pitchFamily="34" charset="0"/>
                <a:ea typeface="Arial" pitchFamily="34" charset="-122"/>
                <a:cs typeface="Arial" pitchFamily="34" charset="-120"/>
              </a:rPr>
              <a:t>• Round-Trip Stability:
</a:t>
            </a:r>
            <a:pPr indent="0" marL="0">
              <a:buNone/>
            </a:pPr>
            <a:r>
              <a:rPr lang="en-US" sz="950" dirty="0">
                <a:solidFill>
                  <a:srgbClr val="1E293B"/>
                </a:solidFill>
                <a:latin typeface="Arial" pitchFamily="34" charset="0"/>
                <a:ea typeface="Arial" pitchFamily="34" charset="-122"/>
                <a:cs typeface="Arial" pitchFamily="34" charset="-120"/>
              </a:rPr>
              <a:t>Full JSON-LD parsing, graph traversal, and UI rehydration with zero data loss.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ENGINES &amp; TEMPLATES</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Moon Suite: Specialized Engines &amp; Template Ecosystem</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6 of 16</a:t>
            </a:r>
            <a:endParaRPr lang="en-US" sz="850" dirty="0"/>
          </a:p>
        </p:txBody>
      </p:sp>
      <p:sp>
        <p:nvSpPr>
          <p:cNvPr id="11" name="Shape 9"/>
          <p:cNvSpPr/>
          <p:nvPr/>
        </p:nvSpPr>
        <p:spPr>
          <a:xfrm>
            <a:off x="731520" y="1280160"/>
            <a:ext cx="3429000" cy="2286000"/>
          </a:xfrm>
          <a:prstGeom prst="roundRect">
            <a:avLst/>
          </a:prstGeom>
          <a:solidFill>
            <a:srgbClr val="FFFFFF"/>
          </a:solidFill>
          <a:ln w="12700">
            <a:solidFill>
              <a:srgbClr val="E2E8F0"/>
            </a:solidFill>
            <a:prstDash val="solid"/>
          </a:ln>
        </p:spPr>
      </p:sp>
      <p:sp>
        <p:nvSpPr>
          <p:cNvPr id="12" name="Shape 10"/>
          <p:cNvSpPr/>
          <p:nvPr/>
        </p:nvSpPr>
        <p:spPr>
          <a:xfrm>
            <a:off x="731520" y="1280160"/>
            <a:ext cx="3429000" cy="73152"/>
          </a:xfrm>
          <a:prstGeom prst="rect">
            <a:avLst/>
          </a:prstGeom>
          <a:solidFill>
            <a:srgbClr val="0071E3"/>
          </a:solidFill>
          <a:ln/>
        </p:spPr>
      </p:sp>
      <p:sp>
        <p:nvSpPr>
          <p:cNvPr id="13" name="Text 11"/>
          <p:cNvSpPr/>
          <p:nvPr/>
        </p:nvSpPr>
        <p:spPr>
          <a:xfrm>
            <a:off x="914400" y="1463040"/>
            <a:ext cx="306324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 Moon Engine Classic</a:t>
            </a:r>
            <a:endParaRPr lang="en-US" sz="1200" dirty="0"/>
          </a:p>
        </p:txBody>
      </p:sp>
      <p:sp>
        <p:nvSpPr>
          <p:cNvPr id="14" name="Shape 12"/>
          <p:cNvSpPr/>
          <p:nvPr/>
        </p:nvSpPr>
        <p:spPr>
          <a:xfrm>
            <a:off x="914400" y="1828800"/>
            <a:ext cx="1645920" cy="237744"/>
          </a:xfrm>
          <a:prstGeom prst="roundRect">
            <a:avLst/>
          </a:prstGeom>
          <a:solidFill>
            <a:srgbClr val="F1F5F9"/>
          </a:solidFill>
          <a:ln/>
        </p:spPr>
      </p:sp>
      <p:sp>
        <p:nvSpPr>
          <p:cNvPr id="15" name="Text 13"/>
          <p:cNvSpPr/>
          <p:nvPr/>
        </p:nvSpPr>
        <p:spPr>
          <a:xfrm>
            <a:off x="914400" y="1828800"/>
            <a:ext cx="1645920" cy="237744"/>
          </a:xfrm>
          <a:prstGeom prst="rect">
            <a:avLst/>
          </a:prstGeom>
          <a:noFill/>
          <a:ln/>
        </p:spPr>
        <p:txBody>
          <a:bodyPr wrap="square" rtlCol="0" anchor="ctr"/>
          <a:lstStyle/>
          <a:p>
            <a:pPr algn="ctr" indent="0" marL="0">
              <a:buNone/>
            </a:pPr>
            <a:r>
              <a:rPr lang="en-US" sz="800" b="1" dirty="0">
                <a:solidFill>
                  <a:srgbClr val="0071E3"/>
                </a:solidFill>
                <a:latin typeface="Arial" pitchFamily="34" charset="0"/>
                <a:ea typeface="Arial" pitchFamily="34" charset="-122"/>
                <a:cs typeface="Arial" pitchFamily="34" charset="-120"/>
              </a:rPr>
              <a:t>Core Three-Pane</a:t>
            </a:r>
            <a:endParaRPr lang="en-US" sz="800" dirty="0"/>
          </a:p>
        </p:txBody>
      </p:sp>
      <p:sp>
        <p:nvSpPr>
          <p:cNvPr id="16" name="Text 14"/>
          <p:cNvSpPr/>
          <p:nvPr/>
        </p:nvSpPr>
        <p:spPr>
          <a:xfrm>
            <a:off x="914400" y="2148840"/>
            <a:ext cx="3063240" cy="123444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The original resilient cataloging workspace with Work form, Instance form, and real-time live preview (JSON-LD, Turtle, MARC).</a:t>
            </a:r>
            <a:endParaRPr lang="en-US" sz="950" dirty="0"/>
          </a:p>
        </p:txBody>
      </p:sp>
      <p:sp>
        <p:nvSpPr>
          <p:cNvPr id="17" name="Shape 15"/>
          <p:cNvSpPr/>
          <p:nvPr/>
        </p:nvSpPr>
        <p:spPr>
          <a:xfrm>
            <a:off x="4343400" y="1280160"/>
            <a:ext cx="3429000" cy="2286000"/>
          </a:xfrm>
          <a:prstGeom prst="roundRect">
            <a:avLst/>
          </a:prstGeom>
          <a:solidFill>
            <a:srgbClr val="FFFFFF"/>
          </a:solidFill>
          <a:ln w="12700">
            <a:solidFill>
              <a:srgbClr val="E2E8F0"/>
            </a:solidFill>
            <a:prstDash val="solid"/>
          </a:ln>
        </p:spPr>
      </p:sp>
      <p:sp>
        <p:nvSpPr>
          <p:cNvPr id="18" name="Shape 16"/>
          <p:cNvSpPr/>
          <p:nvPr/>
        </p:nvSpPr>
        <p:spPr>
          <a:xfrm>
            <a:off x="4343400" y="1280160"/>
            <a:ext cx="3429000" cy="73152"/>
          </a:xfrm>
          <a:prstGeom prst="rect">
            <a:avLst/>
          </a:prstGeom>
          <a:solidFill>
            <a:srgbClr val="0284C7"/>
          </a:solidFill>
          <a:ln/>
        </p:spPr>
      </p:sp>
      <p:sp>
        <p:nvSpPr>
          <p:cNvPr id="19" name="Text 17"/>
          <p:cNvSpPr/>
          <p:nvPr/>
        </p:nvSpPr>
        <p:spPr>
          <a:xfrm>
            <a:off x="4526280" y="1463040"/>
            <a:ext cx="306324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 BlueMoon &amp; BlueMoon AI</a:t>
            </a:r>
            <a:endParaRPr lang="en-US" sz="1200" dirty="0"/>
          </a:p>
        </p:txBody>
      </p:sp>
      <p:sp>
        <p:nvSpPr>
          <p:cNvPr id="20" name="Shape 18"/>
          <p:cNvSpPr/>
          <p:nvPr/>
        </p:nvSpPr>
        <p:spPr>
          <a:xfrm>
            <a:off x="4526280" y="1828800"/>
            <a:ext cx="1645920" cy="237744"/>
          </a:xfrm>
          <a:prstGeom prst="roundRect">
            <a:avLst/>
          </a:prstGeom>
          <a:solidFill>
            <a:srgbClr val="F1F5F9"/>
          </a:solidFill>
          <a:ln/>
        </p:spPr>
      </p:sp>
      <p:sp>
        <p:nvSpPr>
          <p:cNvPr id="21" name="Text 19"/>
          <p:cNvSpPr/>
          <p:nvPr/>
        </p:nvSpPr>
        <p:spPr>
          <a:xfrm>
            <a:off x="4526280" y="1828800"/>
            <a:ext cx="1645920" cy="237744"/>
          </a:xfrm>
          <a:prstGeom prst="rect">
            <a:avLst/>
          </a:prstGeom>
          <a:noFill/>
          <a:ln/>
        </p:spPr>
        <p:txBody>
          <a:bodyPr wrap="square" rtlCol="0" anchor="ctr"/>
          <a:lstStyle/>
          <a:p>
            <a:pPr algn="ctr" indent="0" marL="0">
              <a:buNone/>
            </a:pPr>
            <a:r>
              <a:rPr lang="en-US" sz="800" b="1" dirty="0">
                <a:solidFill>
                  <a:srgbClr val="0284C7"/>
                </a:solidFill>
                <a:latin typeface="Arial" pitchFamily="34" charset="0"/>
                <a:ea typeface="Arial" pitchFamily="34" charset="-122"/>
                <a:cs typeface="Arial" pitchFamily="34" charset="-120"/>
              </a:rPr>
              <a:t>Comprehensive Suite</a:t>
            </a:r>
            <a:endParaRPr lang="en-US" sz="800" dirty="0"/>
          </a:p>
        </p:txBody>
      </p:sp>
      <p:sp>
        <p:nvSpPr>
          <p:cNvPr id="22" name="Text 20"/>
          <p:cNvSpPr/>
          <p:nvPr/>
        </p:nvSpPr>
        <p:spPr>
          <a:xfrm>
            <a:off x="4526280" y="2148840"/>
            <a:ext cx="3063240" cy="123444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Advanced 51-field coverage matching 90%+ of LC Marva records including dissertations, accessibility, braille, and admin metadata.</a:t>
            </a:r>
            <a:endParaRPr lang="en-US" sz="950" dirty="0"/>
          </a:p>
        </p:txBody>
      </p:sp>
      <p:sp>
        <p:nvSpPr>
          <p:cNvPr id="23" name="Shape 21"/>
          <p:cNvSpPr/>
          <p:nvPr/>
        </p:nvSpPr>
        <p:spPr>
          <a:xfrm>
            <a:off x="7955280" y="1280160"/>
            <a:ext cx="3429000" cy="2286000"/>
          </a:xfrm>
          <a:prstGeom prst="roundRect">
            <a:avLst/>
          </a:prstGeom>
          <a:solidFill>
            <a:srgbClr val="FFFFFF"/>
          </a:solidFill>
          <a:ln w="12700">
            <a:solidFill>
              <a:srgbClr val="E2E8F0"/>
            </a:solidFill>
            <a:prstDash val="solid"/>
          </a:ln>
        </p:spPr>
      </p:sp>
      <p:sp>
        <p:nvSpPr>
          <p:cNvPr id="24" name="Shape 22"/>
          <p:cNvSpPr/>
          <p:nvPr/>
        </p:nvSpPr>
        <p:spPr>
          <a:xfrm>
            <a:off x="7955280" y="1280160"/>
            <a:ext cx="3429000" cy="73152"/>
          </a:xfrm>
          <a:prstGeom prst="rect">
            <a:avLst/>
          </a:prstGeom>
          <a:solidFill>
            <a:srgbClr val="7209B7"/>
          </a:solidFill>
          <a:ln/>
        </p:spPr>
      </p:sp>
      <p:sp>
        <p:nvSpPr>
          <p:cNvPr id="25" name="Text 23"/>
          <p:cNvSpPr/>
          <p:nvPr/>
        </p:nvSpPr>
        <p:spPr>
          <a:xfrm>
            <a:off x="8138160" y="1463040"/>
            <a:ext cx="306324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 WolfMoon &amp; Quantum</a:t>
            </a:r>
            <a:endParaRPr lang="en-US" sz="1200" dirty="0"/>
          </a:p>
        </p:txBody>
      </p:sp>
      <p:sp>
        <p:nvSpPr>
          <p:cNvPr id="26" name="Shape 24"/>
          <p:cNvSpPr/>
          <p:nvPr/>
        </p:nvSpPr>
        <p:spPr>
          <a:xfrm>
            <a:off x="8138160" y="1828800"/>
            <a:ext cx="1645920" cy="237744"/>
          </a:xfrm>
          <a:prstGeom prst="roundRect">
            <a:avLst/>
          </a:prstGeom>
          <a:solidFill>
            <a:srgbClr val="F1F5F9"/>
          </a:solidFill>
          <a:ln/>
        </p:spPr>
      </p:sp>
      <p:sp>
        <p:nvSpPr>
          <p:cNvPr id="27" name="Text 25"/>
          <p:cNvSpPr/>
          <p:nvPr/>
        </p:nvSpPr>
        <p:spPr>
          <a:xfrm>
            <a:off x="8138160" y="1828800"/>
            <a:ext cx="1645920" cy="237744"/>
          </a:xfrm>
          <a:prstGeom prst="rect">
            <a:avLst/>
          </a:prstGeom>
          <a:noFill/>
          <a:ln/>
        </p:spPr>
        <p:txBody>
          <a:bodyPr wrap="square" rtlCol="0" anchor="ctr"/>
          <a:lstStyle/>
          <a:p>
            <a:pPr algn="ctr" indent="0" marL="0">
              <a:buNone/>
            </a:pPr>
            <a:r>
              <a:rPr lang="en-US" sz="800" b="1" dirty="0">
                <a:solidFill>
                  <a:srgbClr val="7209B7"/>
                </a:solidFill>
                <a:latin typeface="Arial" pitchFamily="34" charset="0"/>
                <a:ea typeface="Arial" pitchFamily="34" charset="-122"/>
                <a:cs typeface="Arial" pitchFamily="34" charset="-120"/>
              </a:rPr>
              <a:t>3D Spatial Graphs</a:t>
            </a:r>
            <a:endParaRPr lang="en-US" sz="800" dirty="0"/>
          </a:p>
        </p:txBody>
      </p:sp>
      <p:sp>
        <p:nvSpPr>
          <p:cNvPr id="28" name="Text 26"/>
          <p:cNvSpPr/>
          <p:nvPr/>
        </p:nvSpPr>
        <p:spPr>
          <a:xfrm>
            <a:off x="8138160" y="2148840"/>
            <a:ext cx="3063240" cy="123444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Interactive 3D solar system visualization of BIBFRAME entity graphs powered by Three.js, Spline, and D3 force-directed maps.</a:t>
            </a:r>
            <a:endParaRPr lang="en-US" sz="950" dirty="0"/>
          </a:p>
        </p:txBody>
      </p:sp>
      <p:sp>
        <p:nvSpPr>
          <p:cNvPr id="29" name="Shape 27"/>
          <p:cNvSpPr/>
          <p:nvPr/>
        </p:nvSpPr>
        <p:spPr>
          <a:xfrm>
            <a:off x="731520" y="3794760"/>
            <a:ext cx="3429000" cy="2286000"/>
          </a:xfrm>
          <a:prstGeom prst="roundRect">
            <a:avLst/>
          </a:prstGeom>
          <a:solidFill>
            <a:srgbClr val="FFFFFF"/>
          </a:solidFill>
          <a:ln w="12700">
            <a:solidFill>
              <a:srgbClr val="E2E8F0"/>
            </a:solidFill>
            <a:prstDash val="solid"/>
          </a:ln>
        </p:spPr>
      </p:sp>
      <p:sp>
        <p:nvSpPr>
          <p:cNvPr id="30" name="Shape 28"/>
          <p:cNvSpPr/>
          <p:nvPr/>
        </p:nvSpPr>
        <p:spPr>
          <a:xfrm>
            <a:off x="731520" y="3794760"/>
            <a:ext cx="3429000" cy="73152"/>
          </a:xfrm>
          <a:prstGeom prst="rect">
            <a:avLst/>
          </a:prstGeom>
          <a:solidFill>
            <a:srgbClr val="10B981"/>
          </a:solidFill>
          <a:ln/>
        </p:spPr>
      </p:sp>
      <p:sp>
        <p:nvSpPr>
          <p:cNvPr id="31" name="Text 29"/>
          <p:cNvSpPr/>
          <p:nvPr/>
        </p:nvSpPr>
        <p:spPr>
          <a:xfrm>
            <a:off x="914400" y="3977640"/>
            <a:ext cx="306324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 Sonic Engine</a:t>
            </a:r>
            <a:endParaRPr lang="en-US" sz="1200" dirty="0"/>
          </a:p>
        </p:txBody>
      </p:sp>
      <p:sp>
        <p:nvSpPr>
          <p:cNvPr id="32" name="Shape 30"/>
          <p:cNvSpPr/>
          <p:nvPr/>
        </p:nvSpPr>
        <p:spPr>
          <a:xfrm>
            <a:off x="914400" y="4343400"/>
            <a:ext cx="1645920" cy="237744"/>
          </a:xfrm>
          <a:prstGeom prst="roundRect">
            <a:avLst/>
          </a:prstGeom>
          <a:solidFill>
            <a:srgbClr val="F1F5F9"/>
          </a:solidFill>
          <a:ln/>
        </p:spPr>
      </p:sp>
      <p:sp>
        <p:nvSpPr>
          <p:cNvPr id="33" name="Text 31"/>
          <p:cNvSpPr/>
          <p:nvPr/>
        </p:nvSpPr>
        <p:spPr>
          <a:xfrm>
            <a:off x="914400" y="4343400"/>
            <a:ext cx="1645920" cy="237744"/>
          </a:xfrm>
          <a:prstGeom prst="rect">
            <a:avLst/>
          </a:prstGeom>
          <a:noFill/>
          <a:ln/>
        </p:spPr>
        <p:txBody>
          <a:bodyPr wrap="square" rtlCol="0" anchor="ctr"/>
          <a:lstStyle/>
          <a:p>
            <a:pPr algn="ctr" indent="0" marL="0">
              <a:buNone/>
            </a:pPr>
            <a:r>
              <a:rPr lang="en-US" sz="800" b="1" dirty="0">
                <a:solidFill>
                  <a:srgbClr val="10B981"/>
                </a:solidFill>
                <a:latin typeface="Arial" pitchFamily="34" charset="0"/>
                <a:ea typeface="Arial" pitchFamily="34" charset="-122"/>
                <a:cs typeface="Arial" pitchFamily="34" charset="-120"/>
              </a:rPr>
              <a:t>Graph-Native 3.0</a:t>
            </a:r>
            <a:endParaRPr lang="en-US" sz="800" dirty="0"/>
          </a:p>
        </p:txBody>
      </p:sp>
      <p:sp>
        <p:nvSpPr>
          <p:cNvPr id="34" name="Text 32"/>
          <p:cNvSpPr/>
          <p:nvPr/>
        </p:nvSpPr>
        <p:spPr>
          <a:xfrm>
            <a:off x="914400" y="4663440"/>
            <a:ext cx="3063240" cy="123444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Strict BIBFRAME 3.0 compliance engine featuring recursive graph resolvers, zero shortcuts, and pure JSON-LD serialization.</a:t>
            </a:r>
            <a:endParaRPr lang="en-US" sz="950" dirty="0"/>
          </a:p>
        </p:txBody>
      </p:sp>
      <p:sp>
        <p:nvSpPr>
          <p:cNvPr id="35" name="Shape 33"/>
          <p:cNvSpPr/>
          <p:nvPr/>
        </p:nvSpPr>
        <p:spPr>
          <a:xfrm>
            <a:off x="4343400" y="3794760"/>
            <a:ext cx="3429000" cy="2286000"/>
          </a:xfrm>
          <a:prstGeom prst="roundRect">
            <a:avLst/>
          </a:prstGeom>
          <a:solidFill>
            <a:srgbClr val="FFFFFF"/>
          </a:solidFill>
          <a:ln w="12700">
            <a:solidFill>
              <a:srgbClr val="E2E8F0"/>
            </a:solidFill>
            <a:prstDash val="solid"/>
          </a:ln>
        </p:spPr>
      </p:sp>
      <p:sp>
        <p:nvSpPr>
          <p:cNvPr id="36" name="Shape 34"/>
          <p:cNvSpPr/>
          <p:nvPr/>
        </p:nvSpPr>
        <p:spPr>
          <a:xfrm>
            <a:off x="4343400" y="3794760"/>
            <a:ext cx="3429000" cy="73152"/>
          </a:xfrm>
          <a:prstGeom prst="rect">
            <a:avLst/>
          </a:prstGeom>
          <a:solidFill>
            <a:srgbClr val="F4A261"/>
          </a:solidFill>
          <a:ln/>
        </p:spPr>
      </p:sp>
      <p:sp>
        <p:nvSpPr>
          <p:cNvPr id="37" name="Text 35"/>
          <p:cNvSpPr/>
          <p:nvPr/>
        </p:nvSpPr>
        <p:spPr>
          <a:xfrm>
            <a:off x="4526280" y="3977640"/>
            <a:ext cx="306324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 Moon Dijla &amp; AFIQA</a:t>
            </a:r>
            <a:endParaRPr lang="en-US" sz="1200" dirty="0"/>
          </a:p>
        </p:txBody>
      </p:sp>
      <p:sp>
        <p:nvSpPr>
          <p:cNvPr id="38" name="Shape 36"/>
          <p:cNvSpPr/>
          <p:nvPr/>
        </p:nvSpPr>
        <p:spPr>
          <a:xfrm>
            <a:off x="4526280" y="4343400"/>
            <a:ext cx="1645920" cy="237744"/>
          </a:xfrm>
          <a:prstGeom prst="roundRect">
            <a:avLst/>
          </a:prstGeom>
          <a:solidFill>
            <a:srgbClr val="F1F5F9"/>
          </a:solidFill>
          <a:ln/>
        </p:spPr>
      </p:sp>
      <p:sp>
        <p:nvSpPr>
          <p:cNvPr id="39" name="Text 37"/>
          <p:cNvSpPr/>
          <p:nvPr/>
        </p:nvSpPr>
        <p:spPr>
          <a:xfrm>
            <a:off x="4526280" y="4343400"/>
            <a:ext cx="1645920" cy="237744"/>
          </a:xfrm>
          <a:prstGeom prst="rect">
            <a:avLst/>
          </a:prstGeom>
          <a:noFill/>
          <a:ln/>
        </p:spPr>
        <p:txBody>
          <a:bodyPr wrap="square" rtlCol="0" anchor="ctr"/>
          <a:lstStyle/>
          <a:p>
            <a:pPr algn="ctr" indent="0" marL="0">
              <a:buNone/>
            </a:pPr>
            <a:r>
              <a:rPr lang="en-US" sz="800" b="1" dirty="0">
                <a:solidFill>
                  <a:srgbClr val="F4A261"/>
                </a:solidFill>
                <a:latin typeface="Arial" pitchFamily="34" charset="0"/>
                <a:ea typeface="Arial" pitchFamily="34" charset="-122"/>
                <a:cs typeface="Arial" pitchFamily="34" charset="-120"/>
              </a:rPr>
              <a:t>Arabic Regional Hub</a:t>
            </a:r>
            <a:endParaRPr lang="en-US" sz="800" dirty="0"/>
          </a:p>
        </p:txBody>
      </p:sp>
      <p:sp>
        <p:nvSpPr>
          <p:cNvPr id="40" name="Text 38"/>
          <p:cNvSpPr/>
          <p:nvPr/>
        </p:nvSpPr>
        <p:spPr>
          <a:xfrm>
            <a:off x="4526280" y="4663440"/>
            <a:ext cx="3063240" cy="123444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Specialized Arabic cataloging suite integrating the AFIQA authority network, Iraqi author registry, and ScriptShifter transliteration.</a:t>
            </a:r>
            <a:endParaRPr lang="en-US" sz="950" dirty="0"/>
          </a:p>
        </p:txBody>
      </p:sp>
      <p:sp>
        <p:nvSpPr>
          <p:cNvPr id="41" name="Shape 39"/>
          <p:cNvSpPr/>
          <p:nvPr/>
        </p:nvSpPr>
        <p:spPr>
          <a:xfrm>
            <a:off x="7955280" y="3794760"/>
            <a:ext cx="3429000" cy="2286000"/>
          </a:xfrm>
          <a:prstGeom prst="roundRect">
            <a:avLst/>
          </a:prstGeom>
          <a:solidFill>
            <a:srgbClr val="FFFFFF"/>
          </a:solidFill>
          <a:ln w="12700">
            <a:solidFill>
              <a:srgbClr val="E2E8F0"/>
            </a:solidFill>
            <a:prstDash val="solid"/>
          </a:ln>
        </p:spPr>
      </p:sp>
      <p:sp>
        <p:nvSpPr>
          <p:cNvPr id="42" name="Shape 40"/>
          <p:cNvSpPr/>
          <p:nvPr/>
        </p:nvSpPr>
        <p:spPr>
          <a:xfrm>
            <a:off x="7955280" y="3794760"/>
            <a:ext cx="3429000" cy="73152"/>
          </a:xfrm>
          <a:prstGeom prst="rect">
            <a:avLst/>
          </a:prstGeom>
          <a:solidFill>
            <a:srgbClr val="E63946"/>
          </a:solidFill>
          <a:ln/>
        </p:spPr>
      </p:sp>
      <p:sp>
        <p:nvSpPr>
          <p:cNvPr id="43" name="Text 41"/>
          <p:cNvSpPr/>
          <p:nvPr/>
        </p:nvSpPr>
        <p:spPr>
          <a:xfrm>
            <a:off x="8138160" y="3977640"/>
            <a:ext cx="3063240" cy="32004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 KAMI Core Platform</a:t>
            </a:r>
            <a:endParaRPr lang="en-US" sz="1200" dirty="0"/>
          </a:p>
        </p:txBody>
      </p:sp>
      <p:sp>
        <p:nvSpPr>
          <p:cNvPr id="44" name="Shape 42"/>
          <p:cNvSpPr/>
          <p:nvPr/>
        </p:nvSpPr>
        <p:spPr>
          <a:xfrm>
            <a:off x="8138160" y="4343400"/>
            <a:ext cx="1645920" cy="237744"/>
          </a:xfrm>
          <a:prstGeom prst="roundRect">
            <a:avLst/>
          </a:prstGeom>
          <a:solidFill>
            <a:srgbClr val="F1F5F9"/>
          </a:solidFill>
          <a:ln/>
        </p:spPr>
      </p:sp>
      <p:sp>
        <p:nvSpPr>
          <p:cNvPr id="45" name="Text 43"/>
          <p:cNvSpPr/>
          <p:nvPr/>
        </p:nvSpPr>
        <p:spPr>
          <a:xfrm>
            <a:off x="8138160" y="4343400"/>
            <a:ext cx="1645920" cy="237744"/>
          </a:xfrm>
          <a:prstGeom prst="rect">
            <a:avLst/>
          </a:prstGeom>
          <a:noFill/>
          <a:ln/>
        </p:spPr>
        <p:txBody>
          <a:bodyPr wrap="square" rtlCol="0" anchor="ctr"/>
          <a:lstStyle/>
          <a:p>
            <a:pPr algn="ctr" indent="0" marL="0">
              <a:buNone/>
            </a:pPr>
            <a:r>
              <a:rPr lang="en-US" sz="800" b="1" dirty="0">
                <a:solidFill>
                  <a:srgbClr val="E63946"/>
                </a:solidFill>
                <a:latin typeface="Arial" pitchFamily="34" charset="0"/>
                <a:ea typeface="Arial" pitchFamily="34" charset="-122"/>
                <a:cs typeface="Arial" pitchFamily="34" charset="-120"/>
              </a:rPr>
              <a:t>Enterprise Architecture</a:t>
            </a:r>
            <a:endParaRPr lang="en-US" sz="800" dirty="0"/>
          </a:p>
        </p:txBody>
      </p:sp>
      <p:sp>
        <p:nvSpPr>
          <p:cNvPr id="46" name="Text 44"/>
          <p:cNvSpPr/>
          <p:nvPr/>
        </p:nvSpPr>
        <p:spPr>
          <a:xfrm>
            <a:off x="8138160" y="4663440"/>
            <a:ext cx="3063240" cy="123444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Knowledge Architecture for Metadata Integration: multi-tenant security, optimistic record locking, and normalized database routing.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AI ORCHESTRATION</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Multi-AI Orchestrator: 5-Phase Cataloging Intelligence</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7 of 16</a:t>
            </a:r>
            <a:endParaRPr lang="en-US" sz="850" dirty="0"/>
          </a:p>
        </p:txBody>
      </p:sp>
      <p:sp>
        <p:nvSpPr>
          <p:cNvPr id="11" name="Shape 9"/>
          <p:cNvSpPr/>
          <p:nvPr/>
        </p:nvSpPr>
        <p:spPr>
          <a:xfrm>
            <a:off x="731520" y="1280160"/>
            <a:ext cx="6217920" cy="5029200"/>
          </a:xfrm>
          <a:prstGeom prst="roundRect">
            <a:avLst/>
          </a:prstGeom>
          <a:solidFill>
            <a:srgbClr val="FFFFFF"/>
          </a:solidFill>
          <a:ln w="12700">
            <a:solidFill>
              <a:srgbClr val="E2E8F0"/>
            </a:solidFill>
            <a:prstDash val="solid"/>
          </a:ln>
        </p:spPr>
      </p:sp>
      <p:sp>
        <p:nvSpPr>
          <p:cNvPr id="12" name="Text 10"/>
          <p:cNvSpPr/>
          <p:nvPr/>
        </p:nvSpPr>
        <p:spPr>
          <a:xfrm>
            <a:off x="914400" y="1417320"/>
            <a:ext cx="585216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5-Phase Intelligent Cataloging Pipeline</a:t>
            </a:r>
            <a:endParaRPr lang="en-US" sz="1250" dirty="0"/>
          </a:p>
        </p:txBody>
      </p:sp>
      <p:sp>
        <p:nvSpPr>
          <p:cNvPr id="13" name="Shape 11"/>
          <p:cNvSpPr/>
          <p:nvPr/>
        </p:nvSpPr>
        <p:spPr>
          <a:xfrm>
            <a:off x="914400" y="1874520"/>
            <a:ext cx="5852160" cy="731520"/>
          </a:xfrm>
          <a:prstGeom prst="roundRect">
            <a:avLst/>
          </a:prstGeom>
          <a:solidFill>
            <a:srgbClr val="F8FAFC"/>
          </a:solidFill>
          <a:ln w="6350">
            <a:solidFill>
              <a:srgbClr val="E2E8F0"/>
            </a:solidFill>
            <a:prstDash val="solid"/>
          </a:ln>
        </p:spPr>
      </p:sp>
      <p:sp>
        <p:nvSpPr>
          <p:cNvPr id="14" name="Shape 12"/>
          <p:cNvSpPr/>
          <p:nvPr/>
        </p:nvSpPr>
        <p:spPr>
          <a:xfrm>
            <a:off x="914400" y="1874520"/>
            <a:ext cx="73152" cy="731520"/>
          </a:xfrm>
          <a:prstGeom prst="rect">
            <a:avLst/>
          </a:prstGeom>
          <a:solidFill>
            <a:srgbClr val="0071E3"/>
          </a:solidFill>
          <a:ln/>
        </p:spPr>
      </p:sp>
      <p:sp>
        <p:nvSpPr>
          <p:cNvPr id="15" name="Text 13"/>
          <p:cNvSpPr/>
          <p:nvPr/>
        </p:nvSpPr>
        <p:spPr>
          <a:xfrm>
            <a:off x="1097280" y="1947672"/>
            <a:ext cx="5486400" cy="256032"/>
          </a:xfrm>
          <a:prstGeom prst="rect">
            <a:avLst/>
          </a:prstGeom>
          <a:noFill/>
          <a:ln/>
        </p:spPr>
        <p:txBody>
          <a:bodyPr wrap="square" rtlCol="0" anchor="ctr"/>
          <a:lstStyle/>
          <a:p>
            <a:pPr indent="0" marL="0">
              <a:buNone/>
            </a:pPr>
            <a:r>
              <a:rPr lang="en-US" sz="1050" b="1" dirty="0">
                <a:solidFill>
                  <a:srgbClr val="1C2541"/>
                </a:solidFill>
                <a:latin typeface="Arial" pitchFamily="34" charset="0"/>
                <a:ea typeface="Arial" pitchFamily="34" charset="-122"/>
                <a:cs typeface="Arial" pitchFamily="34" charset="-120"/>
              </a:rPr>
              <a:t>Phase 1: Ingestion &amp; Parsing</a:t>
            </a:r>
            <a:endParaRPr lang="en-US" sz="1050" dirty="0"/>
          </a:p>
        </p:txBody>
      </p:sp>
      <p:sp>
        <p:nvSpPr>
          <p:cNvPr id="16" name="Text 14"/>
          <p:cNvSpPr/>
          <p:nvPr/>
        </p:nvSpPr>
        <p:spPr>
          <a:xfrm>
            <a:off x="1097280" y="2221992"/>
            <a:ext cx="54864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Accepts raw OCR text, PDF title pages, MARC XML, or ISBN queries</a:t>
            </a:r>
            <a:endParaRPr lang="en-US" sz="850" dirty="0"/>
          </a:p>
        </p:txBody>
      </p:sp>
      <p:sp>
        <p:nvSpPr>
          <p:cNvPr id="17" name="Shape 15"/>
          <p:cNvSpPr/>
          <p:nvPr/>
        </p:nvSpPr>
        <p:spPr>
          <a:xfrm>
            <a:off x="914400" y="2715768"/>
            <a:ext cx="5852160" cy="731520"/>
          </a:xfrm>
          <a:prstGeom prst="roundRect">
            <a:avLst/>
          </a:prstGeom>
          <a:solidFill>
            <a:srgbClr val="F8FAFC"/>
          </a:solidFill>
          <a:ln w="6350">
            <a:solidFill>
              <a:srgbClr val="E2E8F0"/>
            </a:solidFill>
            <a:prstDash val="solid"/>
          </a:ln>
        </p:spPr>
      </p:sp>
      <p:sp>
        <p:nvSpPr>
          <p:cNvPr id="18" name="Shape 16"/>
          <p:cNvSpPr/>
          <p:nvPr/>
        </p:nvSpPr>
        <p:spPr>
          <a:xfrm>
            <a:off x="914400" y="2715768"/>
            <a:ext cx="73152" cy="731520"/>
          </a:xfrm>
          <a:prstGeom prst="rect">
            <a:avLst/>
          </a:prstGeom>
          <a:solidFill>
            <a:srgbClr val="7209B7"/>
          </a:solidFill>
          <a:ln/>
        </p:spPr>
      </p:sp>
      <p:sp>
        <p:nvSpPr>
          <p:cNvPr id="19" name="Text 17"/>
          <p:cNvSpPr/>
          <p:nvPr/>
        </p:nvSpPr>
        <p:spPr>
          <a:xfrm>
            <a:off x="1097280" y="2788920"/>
            <a:ext cx="5486400" cy="256032"/>
          </a:xfrm>
          <a:prstGeom prst="rect">
            <a:avLst/>
          </a:prstGeom>
          <a:noFill/>
          <a:ln/>
        </p:spPr>
        <p:txBody>
          <a:bodyPr wrap="square" rtlCol="0" anchor="ctr"/>
          <a:lstStyle/>
          <a:p>
            <a:pPr indent="0" marL="0">
              <a:buNone/>
            </a:pPr>
            <a:r>
              <a:rPr lang="en-US" sz="1050" b="1" dirty="0">
                <a:solidFill>
                  <a:srgbClr val="1C2541"/>
                </a:solidFill>
                <a:latin typeface="Arial" pitchFamily="34" charset="0"/>
                <a:ea typeface="Arial" pitchFamily="34" charset="-122"/>
                <a:cs typeface="Arial" pitchFamily="34" charset="-120"/>
              </a:rPr>
              <a:t>Phase 2: Entity &amp; Title Extraction</a:t>
            </a:r>
            <a:endParaRPr lang="en-US" sz="1050" dirty="0"/>
          </a:p>
        </p:txBody>
      </p:sp>
      <p:sp>
        <p:nvSpPr>
          <p:cNvPr id="20" name="Text 18"/>
          <p:cNvSpPr/>
          <p:nvPr/>
        </p:nvSpPr>
        <p:spPr>
          <a:xfrm>
            <a:off x="1097280" y="3063240"/>
            <a:ext cx="54864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Identifies primary creators, uniform titles, edition statements, and publishers</a:t>
            </a:r>
            <a:endParaRPr lang="en-US" sz="850" dirty="0"/>
          </a:p>
        </p:txBody>
      </p:sp>
      <p:sp>
        <p:nvSpPr>
          <p:cNvPr id="21" name="Shape 19"/>
          <p:cNvSpPr/>
          <p:nvPr/>
        </p:nvSpPr>
        <p:spPr>
          <a:xfrm>
            <a:off x="914400" y="3557016"/>
            <a:ext cx="5852160" cy="731520"/>
          </a:xfrm>
          <a:prstGeom prst="roundRect">
            <a:avLst/>
          </a:prstGeom>
          <a:solidFill>
            <a:srgbClr val="F8FAFC"/>
          </a:solidFill>
          <a:ln w="6350">
            <a:solidFill>
              <a:srgbClr val="E2E8F0"/>
            </a:solidFill>
            <a:prstDash val="solid"/>
          </a:ln>
        </p:spPr>
      </p:sp>
      <p:sp>
        <p:nvSpPr>
          <p:cNvPr id="22" name="Shape 20"/>
          <p:cNvSpPr/>
          <p:nvPr/>
        </p:nvSpPr>
        <p:spPr>
          <a:xfrm>
            <a:off x="914400" y="3557016"/>
            <a:ext cx="73152" cy="731520"/>
          </a:xfrm>
          <a:prstGeom prst="rect">
            <a:avLst/>
          </a:prstGeom>
          <a:solidFill>
            <a:srgbClr val="0071E3"/>
          </a:solidFill>
          <a:ln/>
        </p:spPr>
      </p:sp>
      <p:sp>
        <p:nvSpPr>
          <p:cNvPr id="23" name="Text 21"/>
          <p:cNvSpPr/>
          <p:nvPr/>
        </p:nvSpPr>
        <p:spPr>
          <a:xfrm>
            <a:off x="1097280" y="3630168"/>
            <a:ext cx="5486400" cy="256032"/>
          </a:xfrm>
          <a:prstGeom prst="rect">
            <a:avLst/>
          </a:prstGeom>
          <a:noFill/>
          <a:ln/>
        </p:spPr>
        <p:txBody>
          <a:bodyPr wrap="square" rtlCol="0" anchor="ctr"/>
          <a:lstStyle/>
          <a:p>
            <a:pPr indent="0" marL="0">
              <a:buNone/>
            </a:pPr>
            <a:r>
              <a:rPr lang="en-US" sz="1050" b="1" dirty="0">
                <a:solidFill>
                  <a:srgbClr val="1C2541"/>
                </a:solidFill>
                <a:latin typeface="Arial" pitchFamily="34" charset="0"/>
                <a:ea typeface="Arial" pitchFamily="34" charset="-122"/>
                <a:cs typeface="Arial" pitchFamily="34" charset="-120"/>
              </a:rPr>
              <a:t>Phase 3: Authority Disambiguation</a:t>
            </a:r>
            <a:endParaRPr lang="en-US" sz="1050" dirty="0"/>
          </a:p>
        </p:txBody>
      </p:sp>
      <p:sp>
        <p:nvSpPr>
          <p:cNvPr id="24" name="Text 22"/>
          <p:cNvSpPr/>
          <p:nvPr/>
        </p:nvSpPr>
        <p:spPr>
          <a:xfrm>
            <a:off x="1097280" y="3904488"/>
            <a:ext cx="54864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Matches extracted names against LCNAF, VIAF, and AFIQA to obtain valid URIs</a:t>
            </a:r>
            <a:endParaRPr lang="en-US" sz="850" dirty="0"/>
          </a:p>
        </p:txBody>
      </p:sp>
      <p:sp>
        <p:nvSpPr>
          <p:cNvPr id="25" name="Shape 23"/>
          <p:cNvSpPr/>
          <p:nvPr/>
        </p:nvSpPr>
        <p:spPr>
          <a:xfrm>
            <a:off x="914400" y="4398264"/>
            <a:ext cx="5852160" cy="731520"/>
          </a:xfrm>
          <a:prstGeom prst="roundRect">
            <a:avLst/>
          </a:prstGeom>
          <a:solidFill>
            <a:srgbClr val="F8FAFC"/>
          </a:solidFill>
          <a:ln w="6350">
            <a:solidFill>
              <a:srgbClr val="E2E8F0"/>
            </a:solidFill>
            <a:prstDash val="solid"/>
          </a:ln>
        </p:spPr>
      </p:sp>
      <p:sp>
        <p:nvSpPr>
          <p:cNvPr id="26" name="Shape 24"/>
          <p:cNvSpPr/>
          <p:nvPr/>
        </p:nvSpPr>
        <p:spPr>
          <a:xfrm>
            <a:off x="914400" y="4398264"/>
            <a:ext cx="73152" cy="731520"/>
          </a:xfrm>
          <a:prstGeom prst="rect">
            <a:avLst/>
          </a:prstGeom>
          <a:solidFill>
            <a:srgbClr val="7209B7"/>
          </a:solidFill>
          <a:ln/>
        </p:spPr>
      </p:sp>
      <p:sp>
        <p:nvSpPr>
          <p:cNvPr id="27" name="Text 25"/>
          <p:cNvSpPr/>
          <p:nvPr/>
        </p:nvSpPr>
        <p:spPr>
          <a:xfrm>
            <a:off x="1097280" y="4471416"/>
            <a:ext cx="5486400" cy="256032"/>
          </a:xfrm>
          <a:prstGeom prst="rect">
            <a:avLst/>
          </a:prstGeom>
          <a:noFill/>
          <a:ln/>
        </p:spPr>
        <p:txBody>
          <a:bodyPr wrap="square" rtlCol="0" anchor="ctr"/>
          <a:lstStyle/>
          <a:p>
            <a:pPr indent="0" marL="0">
              <a:buNone/>
            </a:pPr>
            <a:r>
              <a:rPr lang="en-US" sz="1050" b="1" dirty="0">
                <a:solidFill>
                  <a:srgbClr val="1C2541"/>
                </a:solidFill>
                <a:latin typeface="Arial" pitchFamily="34" charset="0"/>
                <a:ea typeface="Arial" pitchFamily="34" charset="-122"/>
                <a:cs typeface="Arial" pitchFamily="34" charset="-120"/>
              </a:rPr>
              <a:t>Phase 4: Subject &amp; Classification</a:t>
            </a:r>
            <a:endParaRPr lang="en-US" sz="1050" dirty="0"/>
          </a:p>
        </p:txBody>
      </p:sp>
      <p:sp>
        <p:nvSpPr>
          <p:cNvPr id="28" name="Text 26"/>
          <p:cNvSpPr/>
          <p:nvPr/>
        </p:nvSpPr>
        <p:spPr>
          <a:xfrm>
            <a:off x="1097280" y="4745736"/>
            <a:ext cx="54864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Predicts LCSH headings, DDC numbers, and generates LC Classification Cutters</a:t>
            </a:r>
            <a:endParaRPr lang="en-US" sz="850" dirty="0"/>
          </a:p>
        </p:txBody>
      </p:sp>
      <p:sp>
        <p:nvSpPr>
          <p:cNvPr id="29" name="Shape 27"/>
          <p:cNvSpPr/>
          <p:nvPr/>
        </p:nvSpPr>
        <p:spPr>
          <a:xfrm>
            <a:off x="914400" y="5239512"/>
            <a:ext cx="5852160" cy="731520"/>
          </a:xfrm>
          <a:prstGeom prst="roundRect">
            <a:avLst/>
          </a:prstGeom>
          <a:solidFill>
            <a:srgbClr val="F8FAFC"/>
          </a:solidFill>
          <a:ln w="6350">
            <a:solidFill>
              <a:srgbClr val="E2E8F0"/>
            </a:solidFill>
            <a:prstDash val="solid"/>
          </a:ln>
        </p:spPr>
      </p:sp>
      <p:sp>
        <p:nvSpPr>
          <p:cNvPr id="30" name="Shape 28"/>
          <p:cNvSpPr/>
          <p:nvPr/>
        </p:nvSpPr>
        <p:spPr>
          <a:xfrm>
            <a:off x="914400" y="5239512"/>
            <a:ext cx="73152" cy="731520"/>
          </a:xfrm>
          <a:prstGeom prst="rect">
            <a:avLst/>
          </a:prstGeom>
          <a:solidFill>
            <a:srgbClr val="0071E3"/>
          </a:solidFill>
          <a:ln/>
        </p:spPr>
      </p:sp>
      <p:sp>
        <p:nvSpPr>
          <p:cNvPr id="31" name="Text 29"/>
          <p:cNvSpPr/>
          <p:nvPr/>
        </p:nvSpPr>
        <p:spPr>
          <a:xfrm>
            <a:off x="1097280" y="5312664"/>
            <a:ext cx="5486400" cy="256032"/>
          </a:xfrm>
          <a:prstGeom prst="rect">
            <a:avLst/>
          </a:prstGeom>
          <a:noFill/>
          <a:ln/>
        </p:spPr>
        <p:txBody>
          <a:bodyPr wrap="square" rtlCol="0" anchor="ctr"/>
          <a:lstStyle/>
          <a:p>
            <a:pPr indent="0" marL="0">
              <a:buNone/>
            </a:pPr>
            <a:r>
              <a:rPr lang="en-US" sz="1050" b="1" dirty="0">
                <a:solidFill>
                  <a:srgbClr val="1C2541"/>
                </a:solidFill>
                <a:latin typeface="Arial" pitchFamily="34" charset="0"/>
                <a:ea typeface="Arial" pitchFamily="34" charset="-122"/>
                <a:cs typeface="Arial" pitchFamily="34" charset="-120"/>
              </a:rPr>
              <a:t>Phase 5: Graph Synthesis &amp; SHACL</a:t>
            </a:r>
            <a:endParaRPr lang="en-US" sz="1050" dirty="0"/>
          </a:p>
        </p:txBody>
      </p:sp>
      <p:sp>
        <p:nvSpPr>
          <p:cNvPr id="32" name="Text 30"/>
          <p:cNvSpPr/>
          <p:nvPr/>
        </p:nvSpPr>
        <p:spPr>
          <a:xfrm>
            <a:off x="1097280" y="5586984"/>
            <a:ext cx="54864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Assembles compliant W3C JSON-LD graph with SHACL rule verification</a:t>
            </a:r>
            <a:endParaRPr lang="en-US" sz="850" dirty="0"/>
          </a:p>
        </p:txBody>
      </p:sp>
      <p:sp>
        <p:nvSpPr>
          <p:cNvPr id="33" name="Shape 31"/>
          <p:cNvSpPr/>
          <p:nvPr/>
        </p:nvSpPr>
        <p:spPr>
          <a:xfrm>
            <a:off x="7132320" y="1280160"/>
            <a:ext cx="4327855" cy="5029200"/>
          </a:xfrm>
          <a:prstGeom prst="roundRect">
            <a:avLst/>
          </a:prstGeom>
          <a:solidFill>
            <a:srgbClr val="FFFFFF"/>
          </a:solidFill>
          <a:ln w="12700">
            <a:solidFill>
              <a:srgbClr val="E2E8F0"/>
            </a:solidFill>
            <a:prstDash val="solid"/>
          </a:ln>
        </p:spPr>
      </p:sp>
      <p:sp>
        <p:nvSpPr>
          <p:cNvPr id="34" name="Text 32"/>
          <p:cNvSpPr/>
          <p:nvPr/>
        </p:nvSpPr>
        <p:spPr>
          <a:xfrm>
            <a:off x="7315200" y="1417320"/>
            <a:ext cx="393192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Multi-Provider Resilience &amp; Health</a:t>
            </a:r>
            <a:endParaRPr lang="en-US" sz="1250" dirty="0"/>
          </a:p>
        </p:txBody>
      </p:sp>
      <p:sp>
        <p:nvSpPr>
          <p:cNvPr id="35" name="Text 33"/>
          <p:cNvSpPr/>
          <p:nvPr/>
        </p:nvSpPr>
        <p:spPr>
          <a:xfrm>
            <a:off x="7315200" y="1874520"/>
            <a:ext cx="3931920" cy="4206240"/>
          </a:xfrm>
          <a:prstGeom prst="rect">
            <a:avLst/>
          </a:prstGeom>
          <a:noFill/>
          <a:ln/>
        </p:spPr>
        <p:txBody>
          <a:bodyPr wrap="square" rtlCol="0" anchor="ctr"/>
          <a:lstStyle/>
          <a:p>
            <a:pPr indent="0" marL="0">
              <a:buNone/>
            </a:pPr>
            <a:r>
              <a:rPr lang="en-US" sz="950" b="1" dirty="0">
                <a:solidFill>
                  <a:srgbClr val="7209B7"/>
                </a:solidFill>
                <a:latin typeface="Arial" pitchFamily="34" charset="0"/>
                <a:ea typeface="Arial" pitchFamily="34" charset="-122"/>
                <a:cs typeface="Arial" pitchFamily="34" charset="-120"/>
              </a:rPr>
              <a:t>• 3 Integrated AI Providers:
</a:t>
            </a:r>
            <a:pPr indent="0" marL="0">
              <a:buNone/>
            </a:pPr>
            <a:r>
              <a:rPr lang="en-US" sz="950" dirty="0">
                <a:solidFill>
                  <a:srgbClr val="1E293B"/>
                </a:solidFill>
                <a:latin typeface="Arial" pitchFamily="34" charset="0"/>
                <a:ea typeface="Arial" pitchFamily="34" charset="-122"/>
                <a:cs typeface="Arial" pitchFamily="34" charset="-120"/>
              </a:rPr>
              <a:t>1. OpenAI (GPT-4o, GPT-4 Turbo)
2. Google Gemini (1.5 Pro, 1.5 Flash)
3. Meta LLaMA (3.3-70B via Groq/Ollama)
</a:t>
            </a:r>
            <a:pPr indent="0" marL="0">
              <a:buNone/>
            </a:pPr>
            <a:r>
              <a:rPr lang="en-US" sz="950" b="1" dirty="0">
                <a:solidFill>
                  <a:srgbClr val="7209B7"/>
                </a:solidFill>
                <a:latin typeface="Arial" pitchFamily="34" charset="0"/>
                <a:ea typeface="Arial" pitchFamily="34" charset="-122"/>
                <a:cs typeface="Arial" pitchFamily="34" charset="-120"/>
              </a:rPr>
              <a:t>• Intelligent Circuit Breaker:
</a:t>
            </a:r>
            <a:pPr indent="0" marL="0">
              <a:buNone/>
            </a:pPr>
            <a:r>
              <a:rPr lang="en-US" sz="950" dirty="0">
                <a:solidFill>
                  <a:srgbClr val="1E293B"/>
                </a:solidFill>
                <a:latin typeface="Arial" pitchFamily="34" charset="0"/>
                <a:ea typeface="Arial" pitchFamily="34" charset="-122"/>
                <a:cs typeface="Arial" pitchFamily="34" charset="-120"/>
              </a:rPr>
              <a:t>Monitors endpoint latency, error rates, and API quotas. Automatically routes tasks to healthy secondary providers if primary fails.
</a:t>
            </a:r>
            <a:pPr indent="0" marL="0">
              <a:buNone/>
            </a:pPr>
            <a:r>
              <a:rPr lang="en-US" sz="950" b="1" dirty="0">
                <a:solidFill>
                  <a:srgbClr val="7209B7"/>
                </a:solidFill>
                <a:latin typeface="Arial" pitchFamily="34" charset="0"/>
                <a:ea typeface="Arial" pitchFamily="34" charset="-122"/>
                <a:cs typeface="Arial" pitchFamily="34" charset="-120"/>
              </a:rPr>
              <a:t>• Cost &amp; Privacy Controls:
</a:t>
            </a:r>
            <a:pPr indent="0" marL="0">
              <a:buNone/>
            </a:pPr>
            <a:r>
              <a:rPr lang="en-US" sz="950" dirty="0">
                <a:solidFill>
                  <a:srgbClr val="1E293B"/>
                </a:solidFill>
                <a:latin typeface="Arial" pitchFamily="34" charset="0"/>
                <a:ea typeface="Arial" pitchFamily="34" charset="-122"/>
                <a:cs typeface="Arial" pitchFamily="34" charset="-120"/>
              </a:rPr>
              <a:t>Configurable token usage caps, local offline model fallbacks, and multi-tenant key isolation.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LINKED DATA HUB</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Federated Discovery: 19 Global Authority Endpoints</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8 of 16</a:t>
            </a:r>
            <a:endParaRPr lang="en-US" sz="850" dirty="0"/>
          </a:p>
        </p:txBody>
      </p:sp>
      <p:sp>
        <p:nvSpPr>
          <p:cNvPr id="11" name="Shape 9"/>
          <p:cNvSpPr/>
          <p:nvPr/>
        </p:nvSpPr>
        <p:spPr>
          <a:xfrm>
            <a:off x="731520" y="1280160"/>
            <a:ext cx="6217920" cy="5029200"/>
          </a:xfrm>
          <a:prstGeom prst="roundRect">
            <a:avLst/>
          </a:prstGeom>
          <a:solidFill>
            <a:srgbClr val="FFFFFF"/>
          </a:solidFill>
          <a:ln w="12700">
            <a:solidFill>
              <a:srgbClr val="E2E8F0"/>
            </a:solidFill>
            <a:prstDash val="solid"/>
          </a:ln>
        </p:spPr>
      </p:sp>
      <p:sp>
        <p:nvSpPr>
          <p:cNvPr id="12" name="Text 10"/>
          <p:cNvSpPr/>
          <p:nvPr/>
        </p:nvSpPr>
        <p:spPr>
          <a:xfrm>
            <a:off x="914400" y="1417320"/>
            <a:ext cx="585216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19 Federated Authority &amp; Discovery Sources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1828800"/>
          <a:ext cx="5852160" cy="4206240"/>
        </p:xfrm>
        <a:graphic>
          <a:graphicData uri="http://schemas.openxmlformats.org/drawingml/2006/table">
            <a:tbl>
              <a:tblPr/>
              <a:tblGrid>
                <a:gridCol w="1828800"/>
                <a:gridCol w="2194560"/>
                <a:gridCol w="1828800"/>
              </a:tblGrid>
              <a:tr h="525780">
                <a:tc>
                  <a:txBody>
                    <a:bodyPr/>
                    <a:lstStyle/>
                    <a:p>
                      <a:pPr indent="0" marL="0">
                        <a:buNone/>
                      </a:pPr>
                      <a:r>
                        <a:rPr lang="en-US" sz="850" b="1" dirty="0">
                          <a:solidFill>
                            <a:srgbClr val="1C2541"/>
                          </a:solidFill>
                          <a:latin typeface="Arial" pitchFamily="34" charset="0"/>
                          <a:ea typeface="Arial" pitchFamily="34" charset="-122"/>
                          <a:cs typeface="Arial" pitchFamily="34" charset="-120"/>
                        </a:rPr>
                        <a:t>Authority Source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1C2541"/>
                          </a:solidFill>
                          <a:latin typeface="Arial" pitchFamily="34" charset="0"/>
                          <a:ea typeface="Arial" pitchFamily="34" charset="-122"/>
                          <a:cs typeface="Arial" pitchFamily="34" charset="-120"/>
                        </a:rPr>
                        <a:t>Domain Scope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1C2541"/>
                          </a:solidFill>
                          <a:latin typeface="Arial" pitchFamily="34" charset="0"/>
                          <a:ea typeface="Arial" pitchFamily="34" charset="-122"/>
                          <a:cs typeface="Arial" pitchFamily="34" charset="-120"/>
                        </a:rPr>
                        <a:t>Protocol / Format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LCNAF / LCSH / LCGFT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Library of Congress Authorities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id.loc.gov REST / JSON-LD</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VIAF</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Virtual International Authority File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OCLC VIAF AutoSuggest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Wikidata / FAST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Global Knowledge Base &amp; Facets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SPARQL Endpoint / JSON</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AFIQA Authority File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Arabic/Islamic Authority Records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afiqa.net URI Linked Data</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WorldCat &amp; DPLA</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Global Bibliographic Union Catalog</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OpenSearch / SRU API</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BnF, GND &amp; Getty</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French, German &amp; Art Vocabularies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RDF/XML / SPARQL</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ISBNdb &amp; OpenLibrary</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Commercial &amp; Open Book Metadata</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REST v2 API</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4" name="Shape 11"/>
          <p:cNvSpPr/>
          <p:nvPr/>
        </p:nvSpPr>
        <p:spPr>
          <a:xfrm>
            <a:off x="7132320" y="1280160"/>
            <a:ext cx="4327855" cy="5029200"/>
          </a:xfrm>
          <a:prstGeom prst="roundRect">
            <a:avLst/>
          </a:prstGeom>
          <a:solidFill>
            <a:srgbClr val="FFFFFF"/>
          </a:solidFill>
          <a:ln w="12700">
            <a:solidFill>
              <a:srgbClr val="E2E8F0"/>
            </a:solidFill>
            <a:prstDash val="solid"/>
          </a:ln>
        </p:spPr>
      </p:sp>
      <p:sp>
        <p:nvSpPr>
          <p:cNvPr id="15" name="Text 12"/>
          <p:cNvSpPr/>
          <p:nvPr/>
        </p:nvSpPr>
        <p:spPr>
          <a:xfrm>
            <a:off x="7315200" y="1417320"/>
            <a:ext cx="393192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Linked Data Enrichment Features</a:t>
            </a:r>
            <a:endParaRPr lang="en-US" sz="1250" dirty="0"/>
          </a:p>
        </p:txBody>
      </p:sp>
      <p:sp>
        <p:nvSpPr>
          <p:cNvPr id="16" name="Text 13"/>
          <p:cNvSpPr/>
          <p:nvPr/>
        </p:nvSpPr>
        <p:spPr>
          <a:xfrm>
            <a:off x="7315200" y="1874520"/>
            <a:ext cx="3931920" cy="420624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 Real-Time Authority Autocomplete:
</a:t>
            </a:r>
            <a:pPr indent="0" marL="0">
              <a:buNone/>
            </a:pPr>
            <a:r>
              <a:rPr lang="en-US" sz="950" dirty="0">
                <a:solidFill>
                  <a:srgbClr val="1E293B"/>
                </a:solidFill>
                <a:latin typeface="Arial" pitchFamily="34" charset="0"/>
                <a:ea typeface="Arial" pitchFamily="34" charset="-122"/>
                <a:cs typeface="Arial" pitchFamily="34" charset="-120"/>
              </a:rPr>
              <a:t>Catalogers type a name or topic, and Moon simultaneously searches all 19 authorities, returning disambiguated URIs with birth/death dates and variant forms.
</a:t>
            </a:r>
            <a:pPr indent="0" marL="0">
              <a:buNone/>
            </a:pPr>
            <a:r>
              <a:rPr lang="en-US" sz="950" b="1" dirty="0">
                <a:solidFill>
                  <a:srgbClr val="10B981"/>
                </a:solidFill>
                <a:latin typeface="Arial" pitchFamily="34" charset="0"/>
                <a:ea typeface="Arial" pitchFamily="34" charset="-122"/>
                <a:cs typeface="Arial" pitchFamily="34" charset="-120"/>
              </a:rPr>
              <a:t>• Embedded owl:sameAs Links:
</a:t>
            </a:r>
            <a:pPr indent="0" marL="0">
              <a:buNone/>
            </a:pPr>
            <a:r>
              <a:rPr lang="en-US" sz="950" dirty="0">
                <a:solidFill>
                  <a:srgbClr val="1E293B"/>
                </a:solidFill>
                <a:latin typeface="Arial" pitchFamily="34" charset="0"/>
                <a:ea typeface="Arial" pitchFamily="34" charset="-122"/>
                <a:cs typeface="Arial" pitchFamily="34" charset="-120"/>
              </a:rPr>
              <a:t>Automatically links LOC records to Wikidata, ISNI, and VIAF counterparts.
</a:t>
            </a:r>
            <a:pPr indent="0" marL="0">
              <a:buNone/>
            </a:pPr>
            <a:r>
              <a:rPr lang="en-US" sz="950" b="1" dirty="0">
                <a:solidFill>
                  <a:srgbClr val="10B981"/>
                </a:solidFill>
                <a:latin typeface="Arial" pitchFamily="34" charset="0"/>
                <a:ea typeface="Arial" pitchFamily="34" charset="-122"/>
                <a:cs typeface="Arial" pitchFamily="34" charset="-120"/>
              </a:rPr>
              <a:t>• 24-Hour Intelligent Caching:
</a:t>
            </a:r>
            <a:pPr indent="0" marL="0">
              <a:buNone/>
            </a:pPr>
            <a:r>
              <a:rPr lang="en-US" sz="950" dirty="0">
                <a:solidFill>
                  <a:srgbClr val="1E293B"/>
                </a:solidFill>
                <a:latin typeface="Arial" pitchFamily="34" charset="0"/>
                <a:ea typeface="Arial" pitchFamily="34" charset="-122"/>
                <a:cs typeface="Arial" pitchFamily="34" charset="-120"/>
              </a:rPr>
              <a:t>Caches external authority lookups locally in Supabase to eliminate rate-limit throttling and optimize search speed.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BILINGUAL SUPPORT</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Arabic &amp; Bilingual Cataloging: AFIQA &amp; ScriptShifter</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9 of 16</a:t>
            </a:r>
            <a:endParaRPr lang="en-US" sz="850" dirty="0"/>
          </a:p>
        </p:txBody>
      </p:sp>
      <p:sp>
        <p:nvSpPr>
          <p:cNvPr id="11" name="Shape 9"/>
          <p:cNvSpPr/>
          <p:nvPr/>
        </p:nvSpPr>
        <p:spPr>
          <a:xfrm>
            <a:off x="731520" y="1280160"/>
            <a:ext cx="5120640" cy="5029200"/>
          </a:xfrm>
          <a:prstGeom prst="roundRect">
            <a:avLst/>
          </a:prstGeom>
          <a:solidFill>
            <a:srgbClr val="FFFFFF"/>
          </a:solidFill>
          <a:ln w="12700">
            <a:solidFill>
              <a:srgbClr val="E2E8F0"/>
            </a:solidFill>
            <a:prstDash val="solid"/>
          </a:ln>
        </p:spPr>
      </p:sp>
      <p:sp>
        <p:nvSpPr>
          <p:cNvPr id="12" name="Text 10"/>
          <p:cNvSpPr/>
          <p:nvPr/>
        </p:nvSpPr>
        <p:spPr>
          <a:xfrm>
            <a:off x="1005840" y="1463040"/>
            <a:ext cx="4572000" cy="365760"/>
          </a:xfrm>
          <a:prstGeom prst="rect">
            <a:avLst/>
          </a:prstGeom>
          <a:noFill/>
          <a:ln/>
        </p:spPr>
        <p:txBody>
          <a:bodyPr wrap="square" rtlCol="0" anchor="ctr"/>
          <a:lstStyle/>
          <a:p>
            <a:pPr indent="0" marL="0">
              <a:buNone/>
            </a:pPr>
            <a:r>
              <a:rPr lang="en-US" sz="1300" b="1" dirty="0">
                <a:solidFill>
                  <a:srgbClr val="1C2541"/>
                </a:solidFill>
                <a:latin typeface="Arial" pitchFamily="34" charset="0"/>
                <a:ea typeface="Arial" pitchFamily="34" charset="-122"/>
                <a:cs typeface="Arial" pitchFamily="34" charset="-120"/>
              </a:rPr>
              <a:t>🌙 AFIQA Linked Data Authority File</a:t>
            </a:r>
            <a:endParaRPr lang="en-US" sz="1300" dirty="0"/>
          </a:p>
        </p:txBody>
      </p:sp>
      <p:sp>
        <p:nvSpPr>
          <p:cNvPr id="13" name="Text 11"/>
          <p:cNvSpPr/>
          <p:nvPr/>
        </p:nvSpPr>
        <p:spPr>
          <a:xfrm>
            <a:off x="1005840" y="1920240"/>
            <a:ext cx="4572000" cy="4206240"/>
          </a:xfrm>
          <a:prstGeom prst="rect">
            <a:avLst/>
          </a:prstGeom>
          <a:noFill/>
          <a:ln/>
        </p:spPr>
        <p:txBody>
          <a:bodyPr wrap="square" rtlCol="0" anchor="ctr"/>
          <a:lstStyle/>
          <a:p>
            <a:pPr indent="0" marL="0">
              <a:buNone/>
            </a:pPr>
            <a:r>
              <a:rPr lang="en-US" sz="950" b="1" dirty="0">
                <a:solidFill>
                  <a:srgbClr val="F4A261"/>
                </a:solidFill>
                <a:latin typeface="Arial" pitchFamily="34" charset="0"/>
                <a:ea typeface="Arial" pitchFamily="34" charset="-122"/>
                <a:cs typeface="Arial" pitchFamily="34" charset="-120"/>
              </a:rPr>
              <a:t>First Linked Authority for Arabic Scholarship:
</a:t>
            </a:r>
            <a:pPr indent="0" marL="0">
              <a:buNone/>
            </a:pPr>
            <a:r>
              <a:rPr lang="en-US" sz="950" dirty="0">
                <a:solidFill>
                  <a:srgbClr val="1E293B"/>
                </a:solidFill>
                <a:latin typeface="Arial" pitchFamily="34" charset="0"/>
                <a:ea typeface="Arial" pitchFamily="34" charset="-122"/>
                <a:cs typeface="Arial" pitchFamily="34" charset="-120"/>
              </a:rPr>
              <a:t>AFIQA (Arabic Federated Identification and Qualification of Authorities) provides standardized URIs (https://afiqa.net/authority/{id}) for Arabic authors, poets, and Islamic scholars.
</a:t>
            </a:r>
            <a:pPr indent="0" marL="0">
              <a:buNone/>
            </a:pPr>
            <a:r>
              <a:rPr lang="en-US" sz="950" b="1" dirty="0">
                <a:solidFill>
                  <a:srgbClr val="F4A261"/>
                </a:solidFill>
                <a:latin typeface="Arial" pitchFamily="34" charset="0"/>
                <a:ea typeface="Arial" pitchFamily="34" charset="-122"/>
                <a:cs typeface="Arial" pitchFamily="34" charset="-120"/>
              </a:rPr>
              <a:t>Pre-Loaded Iraqi &amp; Arabic Scholars:
</a:t>
            </a:r>
            <a:pPr indent="0" marL="0">
              <a:buNone/>
            </a:pPr>
            <a:r>
              <a:rPr lang="en-US" sz="950" dirty="0">
                <a:solidFill>
                  <a:srgbClr val="1E293B"/>
                </a:solidFill>
                <a:latin typeface="Arial" pitchFamily="34" charset="0"/>
                <a:ea typeface="Arial" pitchFamily="34" charset="-122"/>
                <a:cs typeface="Arial" pitchFamily="34" charset="-120"/>
              </a:rPr>
              <a:t>• محمد مهدي الجواهري (1899-1997) [URI: 24]
• الشيخ أحمد الوائلي (1928-2003) [URI: 1421]
• د. إبراهيم السامرائي (1923-2001) [URI: 2031]
• أبو الطيب المتنبي (915-965) [URI: 15]
</a:t>
            </a:r>
            <a:pPr indent="0" marL="0">
              <a:buNone/>
            </a:pPr>
            <a:r>
              <a:rPr lang="en-US" sz="950" b="1" dirty="0">
                <a:solidFill>
                  <a:srgbClr val="F4A261"/>
                </a:solidFill>
                <a:latin typeface="Arial" pitchFamily="34" charset="0"/>
                <a:ea typeface="Arial" pitchFamily="34" charset="-122"/>
                <a:cs typeface="Arial" pitchFamily="34" charset="-120"/>
              </a:rPr>
              <a:t>Interlinked Cross-References:
</a:t>
            </a:r>
            <a:pPr indent="0" marL="0">
              <a:buNone/>
            </a:pPr>
            <a:r>
              <a:rPr lang="en-US" sz="950" dirty="0">
                <a:solidFill>
                  <a:srgbClr val="1E293B"/>
                </a:solidFill>
                <a:latin typeface="Arial" pitchFamily="34" charset="0"/>
                <a:ea typeface="Arial" pitchFamily="34" charset="-122"/>
                <a:cs typeface="Arial" pitchFamily="34" charset="-120"/>
              </a:rPr>
              <a:t>Includes ISNI, Wikidata (Q-IDs), and LOC authority cross-mappings with complete Arabic title bibliographies.</a:t>
            </a:r>
            <a:endParaRPr lang="en-US" sz="950" dirty="0"/>
          </a:p>
        </p:txBody>
      </p:sp>
      <p:sp>
        <p:nvSpPr>
          <p:cNvPr id="14" name="Shape 12"/>
          <p:cNvSpPr/>
          <p:nvPr/>
        </p:nvSpPr>
        <p:spPr>
          <a:xfrm>
            <a:off x="6126480" y="1280160"/>
            <a:ext cx="5303520" cy="5029200"/>
          </a:xfrm>
          <a:prstGeom prst="roundRect">
            <a:avLst/>
          </a:prstGeom>
          <a:solidFill>
            <a:srgbClr val="FFFFFF"/>
          </a:solidFill>
          <a:ln w="12700">
            <a:solidFill>
              <a:srgbClr val="E2E8F0"/>
            </a:solidFill>
            <a:prstDash val="solid"/>
          </a:ln>
        </p:spPr>
      </p:sp>
      <p:sp>
        <p:nvSpPr>
          <p:cNvPr id="15" name="Text 13"/>
          <p:cNvSpPr/>
          <p:nvPr/>
        </p:nvSpPr>
        <p:spPr>
          <a:xfrm>
            <a:off x="6400800" y="1463040"/>
            <a:ext cx="4754880" cy="365760"/>
          </a:xfrm>
          <a:prstGeom prst="rect">
            <a:avLst/>
          </a:prstGeom>
          <a:noFill/>
          <a:ln/>
        </p:spPr>
        <p:txBody>
          <a:bodyPr wrap="square" rtlCol="0" anchor="ctr"/>
          <a:lstStyle/>
          <a:p>
            <a:pPr indent="0" marL="0">
              <a:buNone/>
            </a:pPr>
            <a:r>
              <a:rPr lang="en-US" sz="1300" b="1" dirty="0">
                <a:solidFill>
                  <a:srgbClr val="1C2541"/>
                </a:solidFill>
                <a:latin typeface="Arial" pitchFamily="34" charset="0"/>
                <a:ea typeface="Arial" pitchFamily="34" charset="-122"/>
                <a:cs typeface="Arial" pitchFamily="34" charset="-120"/>
              </a:rPr>
              <a:t>🔤 ScriptShifter &amp; Native RTL Architecture</a:t>
            </a:r>
            <a:endParaRPr lang="en-US" sz="1300" dirty="0"/>
          </a:p>
        </p:txBody>
      </p:sp>
      <p:sp>
        <p:nvSpPr>
          <p:cNvPr id="16" name="Text 14"/>
          <p:cNvSpPr/>
          <p:nvPr/>
        </p:nvSpPr>
        <p:spPr>
          <a:xfrm>
            <a:off x="6400800" y="1920240"/>
            <a:ext cx="4754880" cy="4206240"/>
          </a:xfrm>
          <a:prstGeom prst="rect">
            <a:avLst/>
          </a:prstGeom>
          <a:noFill/>
          <a:ln/>
        </p:spPr>
        <p:txBody>
          <a:bodyPr wrap="square" rtlCol="0" anchor="ctr"/>
          <a:lstStyle/>
          <a:p>
            <a:pPr indent="0" marL="0">
              <a:buNone/>
            </a:pPr>
            <a:r>
              <a:rPr lang="en-US" sz="950" b="1" dirty="0">
                <a:solidFill>
                  <a:srgbClr val="0071E3"/>
                </a:solidFill>
                <a:latin typeface="Arial" pitchFamily="34" charset="0"/>
                <a:ea typeface="Arial" pitchFamily="34" charset="-122"/>
                <a:cs typeface="Arial" pitchFamily="34" charset="-120"/>
              </a:rPr>
              <a:t>• Automated Transliteration (ScriptShifter):
</a:t>
            </a:r>
            <a:pPr indent="0" marL="0">
              <a:buNone/>
            </a:pPr>
            <a:r>
              <a:rPr lang="en-US" sz="950" dirty="0">
                <a:solidFill>
                  <a:srgbClr val="1E293B"/>
                </a:solidFill>
                <a:latin typeface="Arial" pitchFamily="34" charset="0"/>
                <a:ea typeface="Arial" pitchFamily="34" charset="-122"/>
                <a:cs typeface="Arial" pitchFamily="34" charset="-120"/>
              </a:rPr>
              <a:t>Integrates automated romanization algorithms converting Arabic script into ALA-LC and ISO 233 standard Latin forms for international catalog exchange.
</a:t>
            </a:r>
            <a:pPr indent="0" marL="0">
              <a:buNone/>
            </a:pPr>
            <a:r>
              <a:rPr lang="en-US" sz="950" b="1" dirty="0">
                <a:solidFill>
                  <a:srgbClr val="0071E3"/>
                </a:solidFill>
                <a:latin typeface="Arial" pitchFamily="34" charset="0"/>
                <a:ea typeface="Arial" pitchFamily="34" charset="-122"/>
                <a:cs typeface="Arial" pitchFamily="34" charset="-120"/>
              </a:rPr>
              <a:t>• True RTL Dynamic Layout:
</a:t>
            </a:r>
            <a:pPr indent="0" marL="0">
              <a:buNone/>
            </a:pPr>
            <a:r>
              <a:rPr lang="en-US" sz="950" dirty="0">
                <a:solidFill>
                  <a:srgbClr val="1E293B"/>
                </a:solidFill>
                <a:latin typeface="Arial" pitchFamily="34" charset="0"/>
                <a:ea typeface="Arial" pitchFamily="34" charset="-122"/>
                <a:cs typeface="Arial" pitchFamily="34" charset="-120"/>
              </a:rPr>
              <a:t>Uses i18next with full bidirectional layout inversion (dir="rtl"), font optimizations for Arabic typography, and mirrored navigation.
</a:t>
            </a:r>
            <a:pPr indent="0" marL="0">
              <a:buNone/>
            </a:pPr>
            <a:r>
              <a:rPr lang="en-US" sz="950" b="1" dirty="0">
                <a:solidFill>
                  <a:srgbClr val="0071E3"/>
                </a:solidFill>
                <a:latin typeface="Arial" pitchFamily="34" charset="0"/>
                <a:ea typeface="Arial" pitchFamily="34" charset="-122"/>
                <a:cs typeface="Arial" pitchFamily="34" charset="-120"/>
              </a:rPr>
              <a:t>• Bilingual Subject Vocabularies:
</a:t>
            </a:r>
            <a:pPr indent="0" marL="0">
              <a:buNone/>
            </a:pPr>
            <a:r>
              <a:rPr lang="en-US" sz="950" dirty="0">
                <a:solidFill>
                  <a:srgbClr val="1E293B"/>
                </a:solidFill>
                <a:latin typeface="Arial" pitchFamily="34" charset="0"/>
                <a:ea typeface="Arial" pitchFamily="34" charset="-122"/>
                <a:cs typeface="Arial" pitchFamily="34" charset="-120"/>
              </a:rPr>
              <a:t>Supports paired English/Arabic subject indexing, bilingual monograph templates, and localized OPAC views for Arab library patrons.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CONVERSION &amp; FORMATS</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Bidirectional Crosswalks &amp; Export Engines</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10 of 16</a:t>
            </a:r>
            <a:endParaRPr lang="en-US" sz="850" dirty="0"/>
          </a:p>
        </p:txBody>
      </p:sp>
      <p:sp>
        <p:nvSpPr>
          <p:cNvPr id="11" name="Shape 9"/>
          <p:cNvSpPr/>
          <p:nvPr/>
        </p:nvSpPr>
        <p:spPr>
          <a:xfrm>
            <a:off x="731520" y="1280160"/>
            <a:ext cx="5257800" cy="2286000"/>
          </a:xfrm>
          <a:prstGeom prst="roundRect">
            <a:avLst/>
          </a:prstGeom>
          <a:solidFill>
            <a:srgbClr val="FFFFFF"/>
          </a:solidFill>
          <a:ln w="12700">
            <a:solidFill>
              <a:srgbClr val="E2E8F0"/>
            </a:solidFill>
            <a:prstDash val="solid"/>
          </a:ln>
        </p:spPr>
      </p:sp>
      <p:sp>
        <p:nvSpPr>
          <p:cNvPr id="12" name="Shape 10"/>
          <p:cNvSpPr/>
          <p:nvPr/>
        </p:nvSpPr>
        <p:spPr>
          <a:xfrm>
            <a:off x="731520" y="1280160"/>
            <a:ext cx="5257800" cy="73152"/>
          </a:xfrm>
          <a:prstGeom prst="rect">
            <a:avLst/>
          </a:prstGeom>
          <a:solidFill>
            <a:srgbClr val="0071E3"/>
          </a:solidFill>
          <a:ln/>
        </p:spPr>
      </p:sp>
      <p:sp>
        <p:nvSpPr>
          <p:cNvPr id="13" name="Text 11"/>
          <p:cNvSpPr/>
          <p:nvPr/>
        </p:nvSpPr>
        <p:spPr>
          <a:xfrm>
            <a:off x="914400" y="1463040"/>
            <a:ext cx="489204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Bibframe2Marc Engine</a:t>
            </a:r>
            <a:endParaRPr lang="en-US" sz="1250" dirty="0"/>
          </a:p>
        </p:txBody>
      </p:sp>
      <p:sp>
        <p:nvSpPr>
          <p:cNvPr id="14" name="Text 12"/>
          <p:cNvSpPr/>
          <p:nvPr/>
        </p:nvSpPr>
        <p:spPr>
          <a:xfrm>
            <a:off x="914400" y="1828800"/>
            <a:ext cx="4892040" cy="160020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Transforms nested BIBFRAME RDF graphs into standard MARC21 records: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LDR &amp; 008 fixed fields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100/700 personal name entries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245 Title &amp; 264 Publication</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300 Physical &amp; 336/337/338 RDA</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650/651/655 Subject Headings</a:t>
            </a:r>
            <a:endParaRPr lang="en-US" sz="950" dirty="0"/>
          </a:p>
        </p:txBody>
      </p:sp>
      <p:sp>
        <p:nvSpPr>
          <p:cNvPr id="15" name="Shape 13"/>
          <p:cNvSpPr/>
          <p:nvPr/>
        </p:nvSpPr>
        <p:spPr>
          <a:xfrm>
            <a:off x="6172200" y="1280160"/>
            <a:ext cx="5257800" cy="2286000"/>
          </a:xfrm>
          <a:prstGeom prst="roundRect">
            <a:avLst/>
          </a:prstGeom>
          <a:solidFill>
            <a:srgbClr val="FFFFFF"/>
          </a:solidFill>
          <a:ln w="12700">
            <a:solidFill>
              <a:srgbClr val="E2E8F0"/>
            </a:solidFill>
            <a:prstDash val="solid"/>
          </a:ln>
        </p:spPr>
      </p:sp>
      <p:sp>
        <p:nvSpPr>
          <p:cNvPr id="16" name="Shape 14"/>
          <p:cNvSpPr/>
          <p:nvPr/>
        </p:nvSpPr>
        <p:spPr>
          <a:xfrm>
            <a:off x="6172200" y="1280160"/>
            <a:ext cx="5257800" cy="73152"/>
          </a:xfrm>
          <a:prstGeom prst="rect">
            <a:avLst/>
          </a:prstGeom>
          <a:solidFill>
            <a:srgbClr val="7209B7"/>
          </a:solidFill>
          <a:ln/>
        </p:spPr>
      </p:sp>
      <p:sp>
        <p:nvSpPr>
          <p:cNvPr id="17" name="Text 15"/>
          <p:cNvSpPr/>
          <p:nvPr/>
        </p:nvSpPr>
        <p:spPr>
          <a:xfrm>
            <a:off x="6355080" y="1463040"/>
            <a:ext cx="489204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Marc2Bibframe Engine</a:t>
            </a:r>
            <a:endParaRPr lang="en-US" sz="1250" dirty="0"/>
          </a:p>
        </p:txBody>
      </p:sp>
      <p:sp>
        <p:nvSpPr>
          <p:cNvPr id="18" name="Text 16"/>
          <p:cNvSpPr/>
          <p:nvPr/>
        </p:nvSpPr>
        <p:spPr>
          <a:xfrm>
            <a:off x="6355080" y="1828800"/>
            <a:ext cx="4892040" cy="160020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Ingests legacy MARC21 / MARC XML:</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Disassembles into bf:Work &amp; bf:Instance</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Extracts authority strings into URIs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Generates linked data blank nodes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Enriches with modern RDA vocabulary</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Exports to JSON-LD &amp; Turtle</a:t>
            </a:r>
            <a:endParaRPr lang="en-US" sz="950" dirty="0"/>
          </a:p>
        </p:txBody>
      </p:sp>
      <p:sp>
        <p:nvSpPr>
          <p:cNvPr id="19" name="Shape 17"/>
          <p:cNvSpPr/>
          <p:nvPr/>
        </p:nvSpPr>
        <p:spPr>
          <a:xfrm>
            <a:off x="731520" y="3794760"/>
            <a:ext cx="5257800" cy="2286000"/>
          </a:xfrm>
          <a:prstGeom prst="roundRect">
            <a:avLst/>
          </a:prstGeom>
          <a:solidFill>
            <a:srgbClr val="FFFFFF"/>
          </a:solidFill>
          <a:ln w="12700">
            <a:solidFill>
              <a:srgbClr val="E2E8F0"/>
            </a:solidFill>
            <a:prstDash val="solid"/>
          </a:ln>
        </p:spPr>
      </p:sp>
      <p:sp>
        <p:nvSpPr>
          <p:cNvPr id="20" name="Shape 18"/>
          <p:cNvSpPr/>
          <p:nvPr/>
        </p:nvSpPr>
        <p:spPr>
          <a:xfrm>
            <a:off x="731520" y="3794760"/>
            <a:ext cx="5257800" cy="73152"/>
          </a:xfrm>
          <a:prstGeom prst="rect">
            <a:avLst/>
          </a:prstGeom>
          <a:solidFill>
            <a:srgbClr val="F4A261"/>
          </a:solidFill>
          <a:ln/>
        </p:spPr>
      </p:sp>
      <p:sp>
        <p:nvSpPr>
          <p:cNvPr id="21" name="Text 19"/>
          <p:cNvSpPr/>
          <p:nvPr/>
        </p:nvSpPr>
        <p:spPr>
          <a:xfrm>
            <a:off x="914400" y="3977640"/>
            <a:ext cx="489204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LC Cutter &amp; Classification</a:t>
            </a:r>
            <a:endParaRPr lang="en-US" sz="1250" dirty="0"/>
          </a:p>
        </p:txBody>
      </p:sp>
      <p:sp>
        <p:nvSpPr>
          <p:cNvPr id="22" name="Text 20"/>
          <p:cNvSpPr/>
          <p:nvPr/>
        </p:nvSpPr>
        <p:spPr>
          <a:xfrm>
            <a:off x="914400" y="4343400"/>
            <a:ext cx="4892040" cy="160020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Automates classification number generation:</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Library of Congress Classification (LCC)</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Automated LC Cutter number table lookups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Dewey Decimal Classification (DDC)</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Work mark generation for uniform sorting</a:t>
            </a:r>
            <a:endParaRPr lang="en-US" sz="950" dirty="0"/>
          </a:p>
        </p:txBody>
      </p:sp>
      <p:sp>
        <p:nvSpPr>
          <p:cNvPr id="23" name="Shape 21"/>
          <p:cNvSpPr/>
          <p:nvPr/>
        </p:nvSpPr>
        <p:spPr>
          <a:xfrm>
            <a:off x="6172200" y="3794760"/>
            <a:ext cx="5257800" cy="2286000"/>
          </a:xfrm>
          <a:prstGeom prst="roundRect">
            <a:avLst/>
          </a:prstGeom>
          <a:solidFill>
            <a:srgbClr val="FFFFFF"/>
          </a:solidFill>
          <a:ln w="12700">
            <a:solidFill>
              <a:srgbClr val="E2E8F0"/>
            </a:solidFill>
            <a:prstDash val="solid"/>
          </a:ln>
        </p:spPr>
      </p:sp>
      <p:sp>
        <p:nvSpPr>
          <p:cNvPr id="24" name="Shape 22"/>
          <p:cNvSpPr/>
          <p:nvPr/>
        </p:nvSpPr>
        <p:spPr>
          <a:xfrm>
            <a:off x="6172200" y="3794760"/>
            <a:ext cx="5257800" cy="73152"/>
          </a:xfrm>
          <a:prstGeom prst="rect">
            <a:avLst/>
          </a:prstGeom>
          <a:solidFill>
            <a:srgbClr val="10B981"/>
          </a:solidFill>
          <a:ln/>
        </p:spPr>
      </p:sp>
      <p:sp>
        <p:nvSpPr>
          <p:cNvPr id="25" name="Text 23"/>
          <p:cNvSpPr/>
          <p:nvPr/>
        </p:nvSpPr>
        <p:spPr>
          <a:xfrm>
            <a:off x="6355080" y="3977640"/>
            <a:ext cx="489204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6 Real-Time Preview Formats</a:t>
            </a:r>
            <a:endParaRPr lang="en-US" sz="1250" dirty="0"/>
          </a:p>
        </p:txBody>
      </p:sp>
      <p:sp>
        <p:nvSpPr>
          <p:cNvPr id="26" name="Text 24"/>
          <p:cNvSpPr/>
          <p:nvPr/>
        </p:nvSpPr>
        <p:spPr>
          <a:xfrm>
            <a:off x="6355080" y="4343400"/>
            <a:ext cx="4892040" cy="160020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Live simultaneous preview panel:</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1. W3C JSON-LD (Graph mode)</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2. RDF / Turtle (.ttl syntax)</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3. MARC21 Tagged Display</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4. Patron OPAC Web View</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5. D3 Interactive Mind Map</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6. XML / SPARQL Query Results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CONSORTIUM &amp; INTEGRATION</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Consortium Cataloging &amp; FOLIO LSP Integration</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11 of 16</a:t>
            </a:r>
            <a:endParaRPr lang="en-US" sz="850" dirty="0"/>
          </a:p>
        </p:txBody>
      </p:sp>
      <p:sp>
        <p:nvSpPr>
          <p:cNvPr id="11" name="Shape 9"/>
          <p:cNvSpPr/>
          <p:nvPr/>
        </p:nvSpPr>
        <p:spPr>
          <a:xfrm>
            <a:off x="731520" y="1280160"/>
            <a:ext cx="5120640" cy="5029200"/>
          </a:xfrm>
          <a:prstGeom prst="roundRect">
            <a:avLst/>
          </a:prstGeom>
          <a:solidFill>
            <a:srgbClr val="FFFFFF"/>
          </a:solidFill>
          <a:ln w="12700">
            <a:solidFill>
              <a:srgbClr val="E2E8F0"/>
            </a:solidFill>
            <a:prstDash val="solid"/>
          </a:ln>
        </p:spPr>
      </p:sp>
      <p:sp>
        <p:nvSpPr>
          <p:cNvPr id="12" name="Text 10"/>
          <p:cNvSpPr/>
          <p:nvPr/>
        </p:nvSpPr>
        <p:spPr>
          <a:xfrm>
            <a:off x="1005840" y="1463040"/>
            <a:ext cx="4572000" cy="365760"/>
          </a:xfrm>
          <a:prstGeom prst="rect">
            <a:avLst/>
          </a:prstGeom>
          <a:noFill/>
          <a:ln/>
        </p:spPr>
        <p:txBody>
          <a:bodyPr wrap="square" rtlCol="0" anchor="ctr"/>
          <a:lstStyle/>
          <a:p>
            <a:pPr indent="0" marL="0">
              <a:buNone/>
            </a:pPr>
            <a:r>
              <a:rPr lang="en-US" sz="1300" b="1" dirty="0">
                <a:solidFill>
                  <a:srgbClr val="1C2541"/>
                </a:solidFill>
                <a:latin typeface="Arial" pitchFamily="34" charset="0"/>
                <a:ea typeface="Arial" pitchFamily="34" charset="-122"/>
                <a:cs typeface="Arial" pitchFamily="34" charset="-120"/>
              </a:rPr>
              <a:t>🦗 JCricket Multi-Institutional Provenance</a:t>
            </a:r>
            <a:endParaRPr lang="en-US" sz="1300" dirty="0"/>
          </a:p>
        </p:txBody>
      </p:sp>
      <p:sp>
        <p:nvSpPr>
          <p:cNvPr id="13" name="Text 11"/>
          <p:cNvSpPr/>
          <p:nvPr/>
        </p:nvSpPr>
        <p:spPr>
          <a:xfrm>
            <a:off x="1005840" y="1920240"/>
            <a:ext cx="4572000" cy="4206240"/>
          </a:xfrm>
          <a:prstGeom prst="rect">
            <a:avLst/>
          </a:prstGeom>
          <a:noFill/>
          <a:ln/>
        </p:spPr>
        <p:txBody>
          <a:bodyPr wrap="square" rtlCol="0" anchor="ctr"/>
          <a:lstStyle/>
          <a:p>
            <a:pPr indent="0" marL="0">
              <a:buNone/>
            </a:pPr>
            <a:r>
              <a:rPr lang="en-US" sz="950" b="1" dirty="0">
                <a:solidFill>
                  <a:srgbClr val="0071E3"/>
                </a:solidFill>
                <a:latin typeface="Arial" pitchFamily="34" charset="0"/>
                <a:ea typeface="Arial" pitchFamily="34" charset="-122"/>
                <a:cs typeface="Arial" pitchFamily="34" charset="-120"/>
              </a:rPr>
              <a:t>Collaborative Consortium Workflows:
</a:t>
            </a:r>
            <a:pPr indent="0" marL="0">
              <a:buNone/>
            </a:pPr>
            <a:r>
              <a:rPr lang="en-US" sz="950" dirty="0">
                <a:solidFill>
                  <a:srgbClr val="1E293B"/>
                </a:solidFill>
                <a:latin typeface="Arial" pitchFamily="34" charset="0"/>
                <a:ea typeface="Arial" pitchFamily="34" charset="-122"/>
                <a:cs typeface="Arial" pitchFamily="34" charset="-120"/>
              </a:rPr>
              <a:t>Implements the Library of Congress JCricket framework for cooperative shared cataloging across universities and national libraries.
</a:t>
            </a:r>
            <a:pPr indent="0" marL="0">
              <a:buNone/>
            </a:pPr>
            <a:r>
              <a:rPr lang="en-US" sz="950" b="1" dirty="0">
                <a:solidFill>
                  <a:srgbClr val="0071E3"/>
                </a:solidFill>
                <a:latin typeface="Arial" pitchFamily="34" charset="0"/>
                <a:ea typeface="Arial" pitchFamily="34" charset="-122"/>
                <a:cs typeface="Arial" pitchFamily="34" charset="-120"/>
              </a:rPr>
              <a:t>Provenance &amp; Audit Trail:
</a:t>
            </a:r>
            <a:pPr indent="0" marL="0">
              <a:buNone/>
            </a:pPr>
            <a:r>
              <a:rPr lang="en-US" sz="950" dirty="0">
                <a:solidFill>
                  <a:srgbClr val="1E293B"/>
                </a:solidFill>
                <a:latin typeface="Arial" pitchFamily="34" charset="0"/>
                <a:ea typeface="Arial" pitchFamily="34" charset="-122"/>
                <a:cs typeface="Arial" pitchFamily="34" charset="-120"/>
              </a:rPr>
              <a:t>• Tracks institution ID, cataloger ID, and timestamp on every triple
• Peer review approval workflows with diff comparison
• Entity merge &amp; split tools with history preservation
</a:t>
            </a:r>
            <a:pPr indent="0" marL="0">
              <a:buNone/>
            </a:pPr>
            <a:r>
              <a:rPr lang="en-US" sz="950" b="1" dirty="0">
                <a:solidFill>
                  <a:srgbClr val="0071E3"/>
                </a:solidFill>
                <a:latin typeface="Arial" pitchFamily="34" charset="0"/>
                <a:ea typeface="Arial" pitchFamily="34" charset="-122"/>
                <a:cs typeface="Arial" pitchFamily="34" charset="-120"/>
              </a:rPr>
              <a:t>Optimistic Record Locking:
</a:t>
            </a:r>
            <a:pPr indent="0" marL="0">
              <a:buNone/>
            </a:pPr>
            <a:r>
              <a:rPr lang="en-US" sz="950" dirty="0">
                <a:solidFill>
                  <a:srgbClr val="1E293B"/>
                </a:solidFill>
                <a:latin typeface="Arial" pitchFamily="34" charset="0"/>
                <a:ea typeface="Arial" pitchFamily="34" charset="-122"/>
                <a:cs typeface="Arial" pitchFamily="34" charset="-120"/>
              </a:rPr>
              <a:t>Prevents concurrent write collisions during multi-cataloger sessions.</a:t>
            </a:r>
            <a:endParaRPr lang="en-US" sz="950" dirty="0"/>
          </a:p>
        </p:txBody>
      </p:sp>
      <p:sp>
        <p:nvSpPr>
          <p:cNvPr id="14" name="Shape 12"/>
          <p:cNvSpPr/>
          <p:nvPr/>
        </p:nvSpPr>
        <p:spPr>
          <a:xfrm>
            <a:off x="6126480" y="1280160"/>
            <a:ext cx="5303520" cy="5029200"/>
          </a:xfrm>
          <a:prstGeom prst="roundRect">
            <a:avLst/>
          </a:prstGeom>
          <a:solidFill>
            <a:srgbClr val="FFFFFF"/>
          </a:solidFill>
          <a:ln w="12700">
            <a:solidFill>
              <a:srgbClr val="E2E8F0"/>
            </a:solidFill>
            <a:prstDash val="solid"/>
          </a:ln>
        </p:spPr>
      </p:sp>
      <p:sp>
        <p:nvSpPr>
          <p:cNvPr id="15" name="Text 13"/>
          <p:cNvSpPr/>
          <p:nvPr/>
        </p:nvSpPr>
        <p:spPr>
          <a:xfrm>
            <a:off x="6400800" y="1463040"/>
            <a:ext cx="4754880" cy="365760"/>
          </a:xfrm>
          <a:prstGeom prst="rect">
            <a:avLst/>
          </a:prstGeom>
          <a:noFill/>
          <a:ln/>
        </p:spPr>
        <p:txBody>
          <a:bodyPr wrap="square" rtlCol="0" anchor="ctr"/>
          <a:lstStyle/>
          <a:p>
            <a:pPr indent="0" marL="0">
              <a:buNone/>
            </a:pPr>
            <a:r>
              <a:rPr lang="en-US" sz="1300" b="1" dirty="0">
                <a:solidFill>
                  <a:srgbClr val="1C2541"/>
                </a:solidFill>
                <a:latin typeface="Arial" pitchFamily="34" charset="0"/>
                <a:ea typeface="Arial" pitchFamily="34" charset="-122"/>
                <a:cs typeface="Arial" pitchFamily="34" charset="-120"/>
              </a:rPr>
              <a:t>📚 FOLIO Library Services Platform</a:t>
            </a:r>
            <a:endParaRPr lang="en-US" sz="1300" dirty="0"/>
          </a:p>
        </p:txBody>
      </p:sp>
      <p:sp>
        <p:nvSpPr>
          <p:cNvPr id="16" name="Text 14"/>
          <p:cNvSpPr/>
          <p:nvPr/>
        </p:nvSpPr>
        <p:spPr>
          <a:xfrm>
            <a:off x="6400800" y="1920240"/>
            <a:ext cx="4754880" cy="4206240"/>
          </a:xfrm>
          <a:prstGeom prst="rect">
            <a:avLst/>
          </a:prstGeom>
          <a:noFill/>
          <a:ln/>
        </p:spPr>
        <p:txBody>
          <a:bodyPr wrap="square" rtlCol="0" anchor="ctr"/>
          <a:lstStyle/>
          <a:p>
            <a:pPr indent="0" marL="0">
              <a:buNone/>
            </a:pPr>
            <a:r>
              <a:rPr lang="en-US" sz="950" b="1" dirty="0">
                <a:solidFill>
                  <a:srgbClr val="7209B7"/>
                </a:solidFill>
                <a:latin typeface="Arial" pitchFamily="34" charset="0"/>
                <a:ea typeface="Arial" pitchFamily="34" charset="-122"/>
                <a:cs typeface="Arial" pitchFamily="34" charset="-120"/>
              </a:rPr>
              <a:t>• 377+ Module Explorer &amp; Live Sync:
</a:t>
            </a:r>
            <a:pPr indent="0" marL="0">
              <a:buNone/>
            </a:pPr>
            <a:r>
              <a:rPr lang="en-US" sz="950" dirty="0">
                <a:solidFill>
                  <a:srgbClr val="1E293B"/>
                </a:solidFill>
                <a:latin typeface="Arial" pitchFamily="34" charset="0"/>
                <a:ea typeface="Arial" pitchFamily="34" charset="-122"/>
                <a:cs typeface="Arial" pitchFamily="34" charset="-120"/>
              </a:rPr>
              <a:t>Interactive browser for all FOLIO microservices (UI, Backend, Edge APIs, Stripes platforms) with direct documentation.
</a:t>
            </a:r>
            <a:pPr indent="0" marL="0">
              <a:buNone/>
            </a:pPr>
            <a:r>
              <a:rPr lang="en-US" sz="950" b="1" dirty="0">
                <a:solidFill>
                  <a:srgbClr val="7209B7"/>
                </a:solidFill>
                <a:latin typeface="Arial" pitchFamily="34" charset="0"/>
                <a:ea typeface="Arial" pitchFamily="34" charset="-122"/>
                <a:cs typeface="Arial" pitchFamily="34" charset="-120"/>
              </a:rPr>
              <a:t>• Core Integration Endpoints:
</a:t>
            </a:r>
            <a:pPr indent="0" marL="0">
              <a:buNone/>
            </a:pPr>
            <a:r>
              <a:rPr lang="en-US" sz="950" dirty="0">
                <a:solidFill>
                  <a:srgbClr val="1E293B"/>
                </a:solidFill>
                <a:latin typeface="Arial" pitchFamily="34" charset="0"/>
                <a:ea typeface="Arial" pitchFamily="34" charset="-122"/>
                <a:cs typeface="Arial" pitchFamily="34" charset="-120"/>
              </a:rPr>
              <a:t>1. mod-inventory: Instances, holdings, items management
2. mod-source-record-storage (SRS): Raw MARC record persistence
3. mod-data-import: Batch bibliographic ingestion
4. Okapi API Gateway: Authentication and tenant routing
</a:t>
            </a:r>
            <a:pPr indent="0" marL="0">
              <a:buNone/>
            </a:pPr>
            <a:r>
              <a:rPr lang="en-US" sz="950" b="1" dirty="0">
                <a:solidFill>
                  <a:srgbClr val="7209B7"/>
                </a:solidFill>
                <a:latin typeface="Arial" pitchFamily="34" charset="0"/>
                <a:ea typeface="Arial" pitchFamily="34" charset="-122"/>
                <a:cs typeface="Arial" pitchFamily="34" charset="-120"/>
              </a:rPr>
              <a:t>• Bidirectional Data Flow:
</a:t>
            </a:r>
            <a:pPr indent="0" marL="0">
              <a:buNone/>
            </a:pPr>
            <a:r>
              <a:rPr lang="en-US" sz="950" dirty="0">
                <a:solidFill>
                  <a:srgbClr val="1E293B"/>
                </a:solidFill>
                <a:latin typeface="Arial" pitchFamily="34" charset="0"/>
                <a:ea typeface="Arial" pitchFamily="34" charset="-122"/>
                <a:cs typeface="Arial" pitchFamily="34" charset="-120"/>
              </a:rPr>
              <a:t>Import FOLIO instances directly into Moon; publish finished BIBFRAME graphs back to FOLIO inventory.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DATABASE &amp; PERSISTENCE</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Database Architecture: Relational Schema &amp; RDF Triples</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12 of 16</a:t>
            </a:r>
            <a:endParaRPr lang="en-US" sz="850" dirty="0"/>
          </a:p>
        </p:txBody>
      </p:sp>
      <p:sp>
        <p:nvSpPr>
          <p:cNvPr id="11" name="Shape 9"/>
          <p:cNvSpPr/>
          <p:nvPr/>
        </p:nvSpPr>
        <p:spPr>
          <a:xfrm>
            <a:off x="731520" y="1280160"/>
            <a:ext cx="6217920" cy="5029200"/>
          </a:xfrm>
          <a:prstGeom prst="roundRect">
            <a:avLst/>
          </a:prstGeom>
          <a:solidFill>
            <a:srgbClr val="FFFFFF"/>
          </a:solidFill>
          <a:ln w="12700">
            <a:solidFill>
              <a:srgbClr val="E2E8F0"/>
            </a:solidFill>
            <a:prstDash val="solid"/>
          </a:ln>
        </p:spPr>
      </p:sp>
      <p:sp>
        <p:nvSpPr>
          <p:cNvPr id="12" name="Text 10"/>
          <p:cNvSpPr/>
          <p:nvPr/>
        </p:nvSpPr>
        <p:spPr>
          <a:xfrm>
            <a:off x="914400" y="1417320"/>
            <a:ext cx="585216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15 Normalized PostgreSQL Tables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1828800"/>
          <a:ext cx="5852160" cy="4206240"/>
        </p:xfrm>
        <a:graphic>
          <a:graphicData uri="http://schemas.openxmlformats.org/drawingml/2006/table">
            <a:tbl>
              <a:tblPr/>
              <a:tblGrid>
                <a:gridCol w="1645920"/>
                <a:gridCol w="2194560"/>
                <a:gridCol w="2011680"/>
              </a:tblGrid>
              <a:tr h="525780">
                <a:tc>
                  <a:txBody>
                    <a:bodyPr/>
                    <a:lstStyle/>
                    <a:p>
                      <a:pPr indent="0" marL="0">
                        <a:buNone/>
                      </a:pPr>
                      <a:r>
                        <a:rPr lang="en-US" sz="850" b="1" dirty="0">
                          <a:solidFill>
                            <a:srgbClr val="1C2541"/>
                          </a:solidFill>
                          <a:latin typeface="Arial" pitchFamily="34" charset="0"/>
                          <a:ea typeface="Arial" pitchFamily="34" charset="-122"/>
                          <a:cs typeface="Arial" pitchFamily="34" charset="-120"/>
                        </a:rPr>
                        <a:t>Table Name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1C2541"/>
                          </a:solidFill>
                          <a:latin typeface="Arial" pitchFamily="34" charset="0"/>
                          <a:ea typeface="Arial" pitchFamily="34" charset="-122"/>
                          <a:cs typeface="Arial" pitchFamily="34" charset="-120"/>
                        </a:rPr>
                        <a:t>Primary Role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1C2541"/>
                          </a:solidFill>
                          <a:latin typeface="Arial" pitchFamily="34" charset="0"/>
                          <a:ea typeface="Arial" pitchFamily="34" charset="-122"/>
                          <a:cs typeface="Arial" pitchFamily="34" charset="-120"/>
                        </a:rPr>
                        <a:t>Key Indexes &amp; Features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records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Bibliographic entities (Work/Instance)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UUID PK, JSONB, Full-text search</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record_versions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Immutable JSON snapshot history</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Version number, diff tracking</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triples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Native RDF graph triple store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Subject, Predicate, Object, Lang</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named_graphs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Named graph context containment</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URI namespace indexing</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authorities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Cached &amp; local authority records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pg_trgm fuzzy match on labels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audit_log</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Compliance &amp; user action log</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Timestamp, User ID, Action type</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25780">
                <a:tc>
                  <a:txBody>
                    <a:bodyPr/>
                    <a:lstStyle/>
                    <a:p>
                      <a:pPr indent="0" marL="0">
                        <a:buNone/>
                      </a:pPr>
                      <a:r>
                        <a:rPr lang="en-US" sz="850" dirty="0">
                          <a:solidFill>
                            <a:srgbClr val="000000"/>
                          </a:solidFill>
                          <a:latin typeface="Arial" pitchFamily="34" charset="0"/>
                          <a:ea typeface="Arial" pitchFamily="34" charset="-122"/>
                          <a:cs typeface="Arial" pitchFamily="34" charset="-120"/>
                        </a:rPr>
                        <a:t>institutions &amp; users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Multi-tenant tenancy &amp; roles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000000"/>
                          </a:solidFill>
                          <a:latin typeface="Arial" pitchFamily="34" charset="0"/>
                          <a:ea typeface="Arial" pitchFamily="34" charset="-122"/>
                          <a:cs typeface="Arial" pitchFamily="34" charset="-120"/>
                        </a:rPr>
                        <a:t>RLS policies, tenant namespaces</a:t>
                      </a:r>
                      <a:endParaRPr lang="en-US" sz="85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4" name="Shape 11"/>
          <p:cNvSpPr/>
          <p:nvPr/>
        </p:nvSpPr>
        <p:spPr>
          <a:xfrm>
            <a:off x="7132320" y="1280160"/>
            <a:ext cx="4327855" cy="5029200"/>
          </a:xfrm>
          <a:prstGeom prst="roundRect">
            <a:avLst/>
          </a:prstGeom>
          <a:solidFill>
            <a:srgbClr val="FFFFFF"/>
          </a:solidFill>
          <a:ln w="12700">
            <a:solidFill>
              <a:srgbClr val="E2E8F0"/>
            </a:solidFill>
            <a:prstDash val="solid"/>
          </a:ln>
        </p:spPr>
      </p:sp>
      <p:sp>
        <p:nvSpPr>
          <p:cNvPr id="15" name="Text 12"/>
          <p:cNvSpPr/>
          <p:nvPr/>
        </p:nvSpPr>
        <p:spPr>
          <a:xfrm>
            <a:off x="7315200" y="1417320"/>
            <a:ext cx="3931920" cy="320040"/>
          </a:xfrm>
          <a:prstGeom prst="rect">
            <a:avLst/>
          </a:prstGeom>
          <a:noFill/>
          <a:ln/>
        </p:spPr>
        <p:txBody>
          <a:bodyPr wrap="square" rtlCol="0" anchor="ctr"/>
          <a:lstStyle/>
          <a:p>
            <a:pPr indent="0" marL="0">
              <a:buNone/>
            </a:pPr>
            <a:r>
              <a:rPr lang="en-US" sz="1250" b="1" dirty="0">
                <a:solidFill>
                  <a:srgbClr val="1C2541"/>
                </a:solidFill>
                <a:latin typeface="Arial" pitchFamily="34" charset="0"/>
                <a:ea typeface="Arial" pitchFamily="34" charset="-122"/>
                <a:cs typeface="Arial" pitchFamily="34" charset="-120"/>
              </a:rPr>
              <a:t>⚡ Storage Engine Capabilities</a:t>
            </a:r>
            <a:endParaRPr lang="en-US" sz="1250" dirty="0"/>
          </a:p>
        </p:txBody>
      </p:sp>
      <p:sp>
        <p:nvSpPr>
          <p:cNvPr id="16" name="Text 13"/>
          <p:cNvSpPr/>
          <p:nvPr/>
        </p:nvSpPr>
        <p:spPr>
          <a:xfrm>
            <a:off x="7315200" y="1874520"/>
            <a:ext cx="3931920" cy="4206240"/>
          </a:xfrm>
          <a:prstGeom prst="rect">
            <a:avLst/>
          </a:prstGeom>
          <a:noFill/>
          <a:ln/>
        </p:spPr>
        <p:txBody>
          <a:bodyPr wrap="square" rtlCol="0" anchor="ctr"/>
          <a:lstStyle/>
          <a:p>
            <a:pPr indent="0" marL="0">
              <a:buNone/>
            </a:pPr>
            <a:r>
              <a:rPr lang="en-US" sz="950" b="1" dirty="0">
                <a:solidFill>
                  <a:srgbClr val="0071E3"/>
                </a:solidFill>
                <a:latin typeface="Arial" pitchFamily="34" charset="0"/>
                <a:ea typeface="Arial" pitchFamily="34" charset="-122"/>
                <a:cs typeface="Arial" pitchFamily="34" charset="-120"/>
              </a:rPr>
              <a:t>• KV Store to Relational Migration:
</a:t>
            </a:r>
            <a:pPr indent="0" marL="0">
              <a:buNone/>
            </a:pPr>
            <a:r>
              <a:rPr lang="en-US" sz="950" dirty="0">
                <a:solidFill>
                  <a:srgbClr val="1E293B"/>
                </a:solidFill>
                <a:latin typeface="Arial" pitchFamily="34" charset="0"/>
                <a:ea typeface="Arial" pitchFamily="34" charset="-122"/>
                <a:cs typeface="Arial" pitchFamily="34" charset="-120"/>
              </a:rPr>
              <a:t>Evolved from flat Key-Value caching into a robust ACID-compliant relational schema.
</a:t>
            </a:r>
            <a:pPr indent="0" marL="0">
              <a:buNone/>
            </a:pPr>
            <a:r>
              <a:rPr lang="en-US" sz="950" b="1" dirty="0">
                <a:solidFill>
                  <a:srgbClr val="0071E3"/>
                </a:solidFill>
                <a:latin typeface="Arial" pitchFamily="34" charset="0"/>
                <a:ea typeface="Arial" pitchFamily="34" charset="-122"/>
                <a:cs typeface="Arial" pitchFamily="34" charset="-120"/>
              </a:rPr>
              <a:t>• High-Performance SPARQL-in-SQL:
</a:t>
            </a:r>
            <a:pPr indent="0" marL="0">
              <a:buNone/>
            </a:pPr>
            <a:r>
              <a:rPr lang="en-US" sz="950" dirty="0">
                <a:solidFill>
                  <a:srgbClr val="1E293B"/>
                </a:solidFill>
                <a:latin typeface="Arial" pitchFamily="34" charset="0"/>
                <a:ea typeface="Arial" pitchFamily="34" charset="-122"/>
                <a:cs typeface="Arial" pitchFamily="34" charset="-120"/>
              </a:rPr>
              <a:t>Indexed subject-predicate-object triples allow rapid graph traversals and SPARQL-equivalent queries directly in SQL.
</a:t>
            </a:r>
            <a:pPr indent="0" marL="0">
              <a:buNone/>
            </a:pPr>
            <a:r>
              <a:rPr lang="en-US" sz="950" b="1" dirty="0">
                <a:solidFill>
                  <a:srgbClr val="0071E3"/>
                </a:solidFill>
                <a:latin typeface="Arial" pitchFamily="34" charset="0"/>
                <a:ea typeface="Arial" pitchFamily="34" charset="-122"/>
                <a:cs typeface="Arial" pitchFamily="34" charset="-120"/>
              </a:rPr>
              <a:t>• Row-Level Security (RLS):
</a:t>
            </a:r>
            <a:pPr indent="0" marL="0">
              <a:buNone/>
            </a:pPr>
            <a:r>
              <a:rPr lang="en-US" sz="950" dirty="0">
                <a:solidFill>
                  <a:srgbClr val="1E293B"/>
                </a:solidFill>
                <a:latin typeface="Arial" pitchFamily="34" charset="0"/>
                <a:ea typeface="Arial" pitchFamily="34" charset="-122"/>
                <a:cs typeface="Arial" pitchFamily="34" charset="-120"/>
              </a:rPr>
              <a:t>Enforces strict institutional isolation so consortium members only access their authorized workspaces.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USER INTERFACE DESIGN</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UI/UX Design: Apple-Inspired Multi-Theme System</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13 of 16</a:t>
            </a:r>
            <a:endParaRPr lang="en-US" sz="850" dirty="0"/>
          </a:p>
        </p:txBody>
      </p:sp>
      <p:sp>
        <p:nvSpPr>
          <p:cNvPr id="11" name="Shape 9"/>
          <p:cNvSpPr/>
          <p:nvPr/>
        </p:nvSpPr>
        <p:spPr>
          <a:xfrm>
            <a:off x="731520" y="1280160"/>
            <a:ext cx="3429000" cy="5029200"/>
          </a:xfrm>
          <a:prstGeom prst="roundRect">
            <a:avLst/>
          </a:prstGeom>
          <a:solidFill>
            <a:srgbClr val="FFFFFF"/>
          </a:solidFill>
          <a:ln w="12700">
            <a:solidFill>
              <a:srgbClr val="E2E8F0"/>
            </a:solidFill>
            <a:prstDash val="solid"/>
          </a:ln>
        </p:spPr>
      </p:sp>
      <p:sp>
        <p:nvSpPr>
          <p:cNvPr id="12" name="Shape 10"/>
          <p:cNvSpPr/>
          <p:nvPr/>
        </p:nvSpPr>
        <p:spPr>
          <a:xfrm>
            <a:off x="731520" y="1280160"/>
            <a:ext cx="3429000" cy="73152"/>
          </a:xfrm>
          <a:prstGeom prst="rect">
            <a:avLst/>
          </a:prstGeom>
          <a:solidFill>
            <a:srgbClr val="0071E3"/>
          </a:solidFill>
          <a:ln/>
        </p:spPr>
      </p:sp>
      <p:sp>
        <p:nvSpPr>
          <p:cNvPr id="13" name="Text 11"/>
          <p:cNvSpPr/>
          <p:nvPr/>
        </p:nvSpPr>
        <p:spPr>
          <a:xfrm>
            <a:off x="914400" y="1508760"/>
            <a:ext cx="3063240" cy="320040"/>
          </a:xfrm>
          <a:prstGeom prst="rect">
            <a:avLst/>
          </a:prstGeom>
          <a:noFill/>
          <a:ln/>
        </p:spPr>
        <p:txBody>
          <a:bodyPr wrap="square" rtlCol="0" anchor="ctr"/>
          <a:lstStyle/>
          <a:p>
            <a:pPr indent="0" marL="0">
              <a:buNone/>
            </a:pPr>
            <a:r>
              <a:rPr lang="en-US" sz="1300" b="1" dirty="0">
                <a:solidFill>
                  <a:srgbClr val="1C2541"/>
                </a:solidFill>
                <a:latin typeface="Arial" pitchFamily="34" charset="0"/>
                <a:ea typeface="Arial" pitchFamily="34" charset="-122"/>
                <a:cs typeface="Arial" pitchFamily="34" charset="-120"/>
              </a:rPr>
              <a:t>🌟 iOS 26 Theme</a:t>
            </a:r>
            <a:endParaRPr lang="en-US" sz="1300" dirty="0"/>
          </a:p>
        </p:txBody>
      </p:sp>
      <p:sp>
        <p:nvSpPr>
          <p:cNvPr id="14" name="Text 12"/>
          <p:cNvSpPr/>
          <p:nvPr/>
        </p:nvSpPr>
        <p:spPr>
          <a:xfrm>
            <a:off x="914400" y="1874520"/>
            <a:ext cx="3063240" cy="274320"/>
          </a:xfrm>
          <a:prstGeom prst="rect">
            <a:avLst/>
          </a:prstGeom>
          <a:noFill/>
          <a:ln/>
        </p:spPr>
        <p:txBody>
          <a:bodyPr wrap="square" rtlCol="0" anchor="ctr"/>
          <a:lstStyle/>
          <a:p>
            <a:pPr indent="0" marL="0">
              <a:buNone/>
            </a:pPr>
            <a:r>
              <a:rPr lang="en-US" sz="1000" b="1" dirty="0">
                <a:solidFill>
                  <a:srgbClr val="0071E3"/>
                </a:solidFill>
                <a:latin typeface="Arial" pitchFamily="34" charset="0"/>
                <a:ea typeface="Arial" pitchFamily="34" charset="-122"/>
                <a:cs typeface="Arial" pitchFamily="34" charset="-120"/>
              </a:rPr>
              <a:t>Vibrant Glassmorphism</a:t>
            </a:r>
            <a:endParaRPr lang="en-US" sz="1000" dirty="0"/>
          </a:p>
        </p:txBody>
      </p:sp>
      <p:sp>
        <p:nvSpPr>
          <p:cNvPr id="15" name="Text 13"/>
          <p:cNvSpPr/>
          <p:nvPr/>
        </p:nvSpPr>
        <p:spPr>
          <a:xfrm>
            <a:off x="914400" y="2286000"/>
            <a:ext cx="3063240" cy="374904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Dynamic Frosted Glass (backdrop-blur-md)</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Spring bounce animations (0.35s cubic bezier)</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Generous 20px rounded corners &amp; vibrant gradients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Floating action bars &amp; modern iconography</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Optimized for touch &amp; modern displays</a:t>
            </a:r>
            <a:endParaRPr lang="en-US" sz="950" dirty="0"/>
          </a:p>
        </p:txBody>
      </p:sp>
      <p:sp>
        <p:nvSpPr>
          <p:cNvPr id="16" name="Shape 14"/>
          <p:cNvSpPr/>
          <p:nvPr/>
        </p:nvSpPr>
        <p:spPr>
          <a:xfrm>
            <a:off x="4343400" y="1280160"/>
            <a:ext cx="3429000" cy="5029200"/>
          </a:xfrm>
          <a:prstGeom prst="roundRect">
            <a:avLst/>
          </a:prstGeom>
          <a:solidFill>
            <a:srgbClr val="FFFFFF"/>
          </a:solidFill>
          <a:ln w="12700">
            <a:solidFill>
              <a:srgbClr val="E2E8F0"/>
            </a:solidFill>
            <a:prstDash val="solid"/>
          </a:ln>
        </p:spPr>
      </p:sp>
      <p:sp>
        <p:nvSpPr>
          <p:cNvPr id="17" name="Shape 15"/>
          <p:cNvSpPr/>
          <p:nvPr/>
        </p:nvSpPr>
        <p:spPr>
          <a:xfrm>
            <a:off x="4343400" y="1280160"/>
            <a:ext cx="3429000" cy="73152"/>
          </a:xfrm>
          <a:prstGeom prst="rect">
            <a:avLst/>
          </a:prstGeom>
          <a:solidFill>
            <a:srgbClr val="7209B7"/>
          </a:solidFill>
          <a:ln/>
        </p:spPr>
      </p:sp>
      <p:sp>
        <p:nvSpPr>
          <p:cNvPr id="18" name="Text 16"/>
          <p:cNvSpPr/>
          <p:nvPr/>
        </p:nvSpPr>
        <p:spPr>
          <a:xfrm>
            <a:off x="4526280" y="1508760"/>
            <a:ext cx="3063240" cy="320040"/>
          </a:xfrm>
          <a:prstGeom prst="rect">
            <a:avLst/>
          </a:prstGeom>
          <a:noFill/>
          <a:ln/>
        </p:spPr>
        <p:txBody>
          <a:bodyPr wrap="square" rtlCol="0" anchor="ctr"/>
          <a:lstStyle/>
          <a:p>
            <a:pPr indent="0" marL="0">
              <a:buNone/>
            </a:pPr>
            <a:r>
              <a:rPr lang="en-US" sz="1300" b="1" dirty="0">
                <a:solidFill>
                  <a:srgbClr val="1C2541"/>
                </a:solidFill>
                <a:latin typeface="Arial" pitchFamily="34" charset="0"/>
                <a:ea typeface="Arial" pitchFamily="34" charset="-122"/>
                <a:cs typeface="Arial" pitchFamily="34" charset="-120"/>
              </a:rPr>
              <a:t>💻 macOS Theme</a:t>
            </a:r>
            <a:endParaRPr lang="en-US" sz="1300" dirty="0"/>
          </a:p>
        </p:txBody>
      </p:sp>
      <p:sp>
        <p:nvSpPr>
          <p:cNvPr id="19" name="Text 17"/>
          <p:cNvSpPr/>
          <p:nvPr/>
        </p:nvSpPr>
        <p:spPr>
          <a:xfrm>
            <a:off x="4526280" y="1874520"/>
            <a:ext cx="3063240" cy="274320"/>
          </a:xfrm>
          <a:prstGeom prst="rect">
            <a:avLst/>
          </a:prstGeom>
          <a:noFill/>
          <a:ln/>
        </p:spPr>
        <p:txBody>
          <a:bodyPr wrap="square" rtlCol="0" anchor="ctr"/>
          <a:lstStyle/>
          <a:p>
            <a:pPr indent="0" marL="0">
              <a:buNone/>
            </a:pPr>
            <a:r>
              <a:rPr lang="en-US" sz="1000" b="1" dirty="0">
                <a:solidFill>
                  <a:srgbClr val="7209B7"/>
                </a:solidFill>
                <a:latin typeface="Arial" pitchFamily="34" charset="0"/>
                <a:ea typeface="Arial" pitchFamily="34" charset="-122"/>
                <a:cs typeface="Arial" pitchFamily="34" charset="-120"/>
              </a:rPr>
              <a:t>Desktop Precision</a:t>
            </a:r>
            <a:endParaRPr lang="en-US" sz="1000" dirty="0"/>
          </a:p>
        </p:txBody>
      </p:sp>
      <p:sp>
        <p:nvSpPr>
          <p:cNvPr id="20" name="Text 18"/>
          <p:cNvSpPr/>
          <p:nvPr/>
        </p:nvSpPr>
        <p:spPr>
          <a:xfrm>
            <a:off x="4526280" y="2286000"/>
            <a:ext cx="3063240" cy="374904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Refined subtle backdrop blur with crisp 1px borders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San Francisco typography hierarchy</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Spacious high-density cataloging layouts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Multi-layered professional elevation shadows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Optimized for power-user multi-screen workflows</a:t>
            </a:r>
            <a:endParaRPr lang="en-US" sz="950" dirty="0"/>
          </a:p>
        </p:txBody>
      </p:sp>
      <p:sp>
        <p:nvSpPr>
          <p:cNvPr id="21" name="Shape 19"/>
          <p:cNvSpPr/>
          <p:nvPr/>
        </p:nvSpPr>
        <p:spPr>
          <a:xfrm>
            <a:off x="7955280" y="1280160"/>
            <a:ext cx="3429000" cy="5029200"/>
          </a:xfrm>
          <a:prstGeom prst="roundRect">
            <a:avLst/>
          </a:prstGeom>
          <a:solidFill>
            <a:srgbClr val="FFFFFF"/>
          </a:solidFill>
          <a:ln w="12700">
            <a:solidFill>
              <a:srgbClr val="E2E8F0"/>
            </a:solidFill>
            <a:prstDash val="solid"/>
          </a:ln>
        </p:spPr>
      </p:sp>
      <p:sp>
        <p:nvSpPr>
          <p:cNvPr id="22" name="Shape 20"/>
          <p:cNvSpPr/>
          <p:nvPr/>
        </p:nvSpPr>
        <p:spPr>
          <a:xfrm>
            <a:off x="7955280" y="1280160"/>
            <a:ext cx="3429000" cy="73152"/>
          </a:xfrm>
          <a:prstGeom prst="rect">
            <a:avLst/>
          </a:prstGeom>
          <a:solidFill>
            <a:srgbClr val="10B981"/>
          </a:solidFill>
          <a:ln/>
        </p:spPr>
      </p:sp>
      <p:sp>
        <p:nvSpPr>
          <p:cNvPr id="23" name="Text 21"/>
          <p:cNvSpPr/>
          <p:nvPr/>
        </p:nvSpPr>
        <p:spPr>
          <a:xfrm>
            <a:off x="8138160" y="1508760"/>
            <a:ext cx="3063240" cy="320040"/>
          </a:xfrm>
          <a:prstGeom prst="rect">
            <a:avLst/>
          </a:prstGeom>
          <a:noFill/>
          <a:ln/>
        </p:spPr>
        <p:txBody>
          <a:bodyPr wrap="square" rtlCol="0" anchor="ctr"/>
          <a:lstStyle/>
          <a:p>
            <a:pPr indent="0" marL="0">
              <a:buNone/>
            </a:pPr>
            <a:r>
              <a:rPr lang="en-US" sz="1300" b="1" dirty="0">
                <a:solidFill>
                  <a:srgbClr val="1C2541"/>
                </a:solidFill>
                <a:latin typeface="Arial" pitchFamily="34" charset="0"/>
                <a:ea typeface="Arial" pitchFamily="34" charset="-122"/>
                <a:cs typeface="Arial" pitchFamily="34" charset="-120"/>
              </a:rPr>
              <a:t>📚 Classic Theme</a:t>
            </a:r>
            <a:endParaRPr lang="en-US" sz="1300" dirty="0"/>
          </a:p>
        </p:txBody>
      </p:sp>
      <p:sp>
        <p:nvSpPr>
          <p:cNvPr id="24" name="Text 22"/>
          <p:cNvSpPr/>
          <p:nvPr/>
        </p:nvSpPr>
        <p:spPr>
          <a:xfrm>
            <a:off x="8138160" y="1874520"/>
            <a:ext cx="3063240" cy="27432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Traditional Ergonomics</a:t>
            </a:r>
            <a:endParaRPr lang="en-US" sz="1000" dirty="0"/>
          </a:p>
        </p:txBody>
      </p:sp>
      <p:sp>
        <p:nvSpPr>
          <p:cNvPr id="25" name="Text 23"/>
          <p:cNvSpPr/>
          <p:nvPr/>
        </p:nvSpPr>
        <p:spPr>
          <a:xfrm>
            <a:off x="8138160" y="2286000"/>
            <a:ext cx="3063240" cy="374904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Familiar standard library cataloging UI patterns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High-contrast predictable spacing</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Universal compatibility across all browser engines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Full WCAG 2.1 AA accessibility compliance</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Zero animation mode for low-spec terminals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PRODUCTION EXAMPLES</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Pre-Loaded Production Records &amp; Real-World Validation</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14 of 16</a:t>
            </a:r>
            <a:endParaRPr lang="en-US" sz="850" dirty="0"/>
          </a:p>
        </p:txBody>
      </p:sp>
      <p:sp>
        <p:nvSpPr>
          <p:cNvPr id="11" name="Shape 9"/>
          <p:cNvSpPr/>
          <p:nvPr/>
        </p:nvSpPr>
        <p:spPr>
          <a:xfrm>
            <a:off x="731520" y="1280160"/>
            <a:ext cx="3429000" cy="5029200"/>
          </a:xfrm>
          <a:prstGeom prst="roundRect">
            <a:avLst/>
          </a:prstGeom>
          <a:solidFill>
            <a:srgbClr val="FFFFFF"/>
          </a:solidFill>
          <a:ln w="12700">
            <a:solidFill>
              <a:srgbClr val="E2E8F0"/>
            </a:solidFill>
            <a:prstDash val="solid"/>
          </a:ln>
        </p:spPr>
      </p:sp>
      <p:sp>
        <p:nvSpPr>
          <p:cNvPr id="12" name="Shape 10"/>
          <p:cNvSpPr/>
          <p:nvPr/>
        </p:nvSpPr>
        <p:spPr>
          <a:xfrm>
            <a:off x="731520" y="1280160"/>
            <a:ext cx="3429000" cy="73152"/>
          </a:xfrm>
          <a:prstGeom prst="rect">
            <a:avLst/>
          </a:prstGeom>
          <a:solidFill>
            <a:srgbClr val="0071E3"/>
          </a:solidFill>
          <a:ln/>
        </p:spPr>
      </p:sp>
      <p:sp>
        <p:nvSpPr>
          <p:cNvPr id="13" name="Text 11"/>
          <p:cNvSpPr/>
          <p:nvPr/>
        </p:nvSpPr>
        <p:spPr>
          <a:xfrm>
            <a:off x="914400" y="1463040"/>
            <a:ext cx="3063240" cy="45720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1. One Hundred Years of Solitude</a:t>
            </a:r>
            <a:endParaRPr lang="en-US" sz="1200" dirty="0"/>
          </a:p>
        </p:txBody>
      </p:sp>
      <p:sp>
        <p:nvSpPr>
          <p:cNvPr id="14" name="Text 12"/>
          <p:cNvSpPr/>
          <p:nvPr/>
        </p:nvSpPr>
        <p:spPr>
          <a:xfrm>
            <a:off x="914400" y="1920240"/>
            <a:ext cx="3063240" cy="274320"/>
          </a:xfrm>
          <a:prstGeom prst="rect">
            <a:avLst/>
          </a:prstGeom>
          <a:noFill/>
          <a:ln/>
        </p:spPr>
        <p:txBody>
          <a:bodyPr wrap="square" rtlCol="0" anchor="ctr"/>
          <a:lstStyle/>
          <a:p>
            <a:pPr indent="0" marL="0">
              <a:buNone/>
            </a:pPr>
            <a:r>
              <a:rPr lang="en-US" sz="950" i="1" dirty="0">
                <a:solidFill>
                  <a:srgbClr val="64748B"/>
                </a:solidFill>
                <a:latin typeface="Arial" pitchFamily="34" charset="0"/>
                <a:ea typeface="Arial" pitchFamily="34" charset="-122"/>
                <a:cs typeface="Arial" pitchFamily="34" charset="-120"/>
              </a:rPr>
              <a:t>By Gabriel García Márquez</a:t>
            </a:r>
            <a:endParaRPr lang="en-US" sz="950" dirty="0"/>
          </a:p>
        </p:txBody>
      </p:sp>
      <p:sp>
        <p:nvSpPr>
          <p:cNvPr id="15" name="Text 13"/>
          <p:cNvSpPr/>
          <p:nvPr/>
        </p:nvSpPr>
        <p:spPr>
          <a:xfrm>
            <a:off x="914400" y="2194560"/>
            <a:ext cx="3063240" cy="274320"/>
          </a:xfrm>
          <a:prstGeom prst="rect">
            <a:avLst/>
          </a:prstGeom>
          <a:noFill/>
          <a:ln/>
        </p:spPr>
        <p:txBody>
          <a:bodyPr wrap="square" rtlCol="0" anchor="ctr"/>
          <a:lstStyle/>
          <a:p>
            <a:pPr indent="0" marL="0">
              <a:buNone/>
            </a:pPr>
            <a:r>
              <a:rPr lang="en-US" sz="900" b="1" dirty="0">
                <a:solidFill>
                  <a:srgbClr val="0071E3"/>
                </a:solidFill>
                <a:latin typeface="Arial" pitchFamily="34" charset="0"/>
                <a:ea typeface="Arial" pitchFamily="34" charset="-122"/>
                <a:cs typeface="Arial" pitchFamily="34" charset="-120"/>
              </a:rPr>
              <a:t>English Fiction / Magic Realism</a:t>
            </a:r>
            <a:endParaRPr lang="en-US" sz="900" dirty="0"/>
          </a:p>
        </p:txBody>
      </p:sp>
      <p:sp>
        <p:nvSpPr>
          <p:cNvPr id="16" name="Text 14"/>
          <p:cNvSpPr/>
          <p:nvPr/>
        </p:nvSpPr>
        <p:spPr>
          <a:xfrm>
            <a:off x="914400" y="2560320"/>
            <a:ext cx="3063240" cy="356616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Full LCNAF URI linking for Author &amp; Translator</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LCSH subject terms (Solitude, Macondo, Colombia)</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Complete LCC (PQ8180.17.A53) &amp; DDC (863.64)</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MARC21 100/245/264/300/650 generated</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Valid JSON-LD and Turtle exports</a:t>
            </a:r>
            <a:endParaRPr lang="en-US" sz="950" dirty="0"/>
          </a:p>
        </p:txBody>
      </p:sp>
      <p:sp>
        <p:nvSpPr>
          <p:cNvPr id="17" name="Shape 15"/>
          <p:cNvSpPr/>
          <p:nvPr/>
        </p:nvSpPr>
        <p:spPr>
          <a:xfrm>
            <a:off x="4343400" y="1280160"/>
            <a:ext cx="3429000" cy="5029200"/>
          </a:xfrm>
          <a:prstGeom prst="roundRect">
            <a:avLst/>
          </a:prstGeom>
          <a:solidFill>
            <a:srgbClr val="FFFFFF"/>
          </a:solidFill>
          <a:ln w="12700">
            <a:solidFill>
              <a:srgbClr val="E2E8F0"/>
            </a:solidFill>
            <a:prstDash val="solid"/>
          </a:ln>
        </p:spPr>
      </p:sp>
      <p:sp>
        <p:nvSpPr>
          <p:cNvPr id="18" name="Shape 16"/>
          <p:cNvSpPr/>
          <p:nvPr/>
        </p:nvSpPr>
        <p:spPr>
          <a:xfrm>
            <a:off x="4343400" y="1280160"/>
            <a:ext cx="3429000" cy="73152"/>
          </a:xfrm>
          <a:prstGeom prst="rect">
            <a:avLst/>
          </a:prstGeom>
          <a:solidFill>
            <a:srgbClr val="F4A261"/>
          </a:solidFill>
          <a:ln/>
        </p:spPr>
      </p:sp>
      <p:sp>
        <p:nvSpPr>
          <p:cNvPr id="19" name="Text 17"/>
          <p:cNvSpPr/>
          <p:nvPr/>
        </p:nvSpPr>
        <p:spPr>
          <a:xfrm>
            <a:off x="4526280" y="1463040"/>
            <a:ext cx="3063240" cy="45720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2. الأيام (Al-Ayyam - The Days)</a:t>
            </a:r>
            <a:endParaRPr lang="en-US" sz="1200" dirty="0"/>
          </a:p>
        </p:txBody>
      </p:sp>
      <p:sp>
        <p:nvSpPr>
          <p:cNvPr id="20" name="Text 18"/>
          <p:cNvSpPr/>
          <p:nvPr/>
        </p:nvSpPr>
        <p:spPr>
          <a:xfrm>
            <a:off x="4526280" y="1920240"/>
            <a:ext cx="3063240" cy="274320"/>
          </a:xfrm>
          <a:prstGeom prst="rect">
            <a:avLst/>
          </a:prstGeom>
          <a:noFill/>
          <a:ln/>
        </p:spPr>
        <p:txBody>
          <a:bodyPr wrap="square" rtlCol="0" anchor="ctr"/>
          <a:lstStyle/>
          <a:p>
            <a:pPr indent="0" marL="0">
              <a:buNone/>
            </a:pPr>
            <a:r>
              <a:rPr lang="en-US" sz="950" i="1" dirty="0">
                <a:solidFill>
                  <a:srgbClr val="64748B"/>
                </a:solidFill>
                <a:latin typeface="Arial" pitchFamily="34" charset="0"/>
                <a:ea typeface="Arial" pitchFamily="34" charset="-122"/>
                <a:cs typeface="Arial" pitchFamily="34" charset="-120"/>
              </a:rPr>
              <a:t>By طه حسين (Taha Hussein)</a:t>
            </a:r>
            <a:endParaRPr lang="en-US" sz="950" dirty="0"/>
          </a:p>
        </p:txBody>
      </p:sp>
      <p:sp>
        <p:nvSpPr>
          <p:cNvPr id="21" name="Text 19"/>
          <p:cNvSpPr/>
          <p:nvPr/>
        </p:nvSpPr>
        <p:spPr>
          <a:xfrm>
            <a:off x="4526280" y="2194560"/>
            <a:ext cx="3063240" cy="274320"/>
          </a:xfrm>
          <a:prstGeom prst="rect">
            <a:avLst/>
          </a:prstGeom>
          <a:noFill/>
          <a:ln/>
        </p:spPr>
        <p:txBody>
          <a:bodyPr wrap="square" rtlCol="0" anchor="ctr"/>
          <a:lstStyle/>
          <a:p>
            <a:pPr indent="0" marL="0">
              <a:buNone/>
            </a:pPr>
            <a:r>
              <a:rPr lang="en-US" sz="900" b="1" dirty="0">
                <a:solidFill>
                  <a:srgbClr val="F4A261"/>
                </a:solidFill>
                <a:latin typeface="Arial" pitchFamily="34" charset="0"/>
                <a:ea typeface="Arial" pitchFamily="34" charset="-122"/>
                <a:cs typeface="Arial" pitchFamily="34" charset="-120"/>
              </a:rPr>
              <a:t>Arabic Autobiography / Literature</a:t>
            </a:r>
            <a:endParaRPr lang="en-US" sz="900" dirty="0"/>
          </a:p>
        </p:txBody>
      </p:sp>
      <p:sp>
        <p:nvSpPr>
          <p:cNvPr id="22" name="Text 20"/>
          <p:cNvSpPr/>
          <p:nvPr/>
        </p:nvSpPr>
        <p:spPr>
          <a:xfrm>
            <a:off x="4526280" y="2560320"/>
            <a:ext cx="3063240" cy="356616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AFIQA URI linked (https://afiqa.net/authority/...)</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Native RTL layout &amp; Arabic subject indexing</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ScriptShifter Romanization to "Al-Ayyām"</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Linked Wikidata Q-ID &amp; ISNI identifier</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Bilingual parallel title &amp; edition statements</a:t>
            </a:r>
            <a:endParaRPr lang="en-US" sz="950" dirty="0"/>
          </a:p>
        </p:txBody>
      </p:sp>
      <p:sp>
        <p:nvSpPr>
          <p:cNvPr id="23" name="Shape 21"/>
          <p:cNvSpPr/>
          <p:nvPr/>
        </p:nvSpPr>
        <p:spPr>
          <a:xfrm>
            <a:off x="7955280" y="1280160"/>
            <a:ext cx="3429000" cy="5029200"/>
          </a:xfrm>
          <a:prstGeom prst="roundRect">
            <a:avLst/>
          </a:prstGeom>
          <a:solidFill>
            <a:srgbClr val="FFFFFF"/>
          </a:solidFill>
          <a:ln w="12700">
            <a:solidFill>
              <a:srgbClr val="E2E8F0"/>
            </a:solidFill>
            <a:prstDash val="solid"/>
          </a:ln>
        </p:spPr>
      </p:sp>
      <p:sp>
        <p:nvSpPr>
          <p:cNvPr id="24" name="Shape 22"/>
          <p:cNvSpPr/>
          <p:nvPr/>
        </p:nvSpPr>
        <p:spPr>
          <a:xfrm>
            <a:off x="7955280" y="1280160"/>
            <a:ext cx="3429000" cy="73152"/>
          </a:xfrm>
          <a:prstGeom prst="rect">
            <a:avLst/>
          </a:prstGeom>
          <a:solidFill>
            <a:srgbClr val="7209B7"/>
          </a:solidFill>
          <a:ln/>
        </p:spPr>
      </p:sp>
      <p:sp>
        <p:nvSpPr>
          <p:cNvPr id="25" name="Text 23"/>
          <p:cNvSpPr/>
          <p:nvPr/>
        </p:nvSpPr>
        <p:spPr>
          <a:xfrm>
            <a:off x="8138160" y="1463040"/>
            <a:ext cx="3063240" cy="457200"/>
          </a:xfrm>
          <a:prstGeom prst="rect">
            <a:avLst/>
          </a:prstGeom>
          <a:noFill/>
          <a:ln/>
        </p:spPr>
        <p:txBody>
          <a:bodyPr wrap="square" rtlCol="0" anchor="ctr"/>
          <a:lstStyle/>
          <a:p>
            <a:pPr indent="0" marL="0">
              <a:buNone/>
            </a:pPr>
            <a:r>
              <a:rPr lang="en-US" sz="1200" b="1" dirty="0">
                <a:solidFill>
                  <a:srgbClr val="1C2541"/>
                </a:solidFill>
                <a:latin typeface="Arial" pitchFamily="34" charset="0"/>
                <a:ea typeface="Arial" pitchFamily="34" charset="-122"/>
                <a:cs typeface="Arial" pitchFamily="34" charset="-120"/>
              </a:rPr>
              <a:t>3. Introduction to Algorithms</a:t>
            </a:r>
            <a:endParaRPr lang="en-US" sz="1200" dirty="0"/>
          </a:p>
        </p:txBody>
      </p:sp>
      <p:sp>
        <p:nvSpPr>
          <p:cNvPr id="26" name="Text 24"/>
          <p:cNvSpPr/>
          <p:nvPr/>
        </p:nvSpPr>
        <p:spPr>
          <a:xfrm>
            <a:off x="8138160" y="1920240"/>
            <a:ext cx="3063240" cy="274320"/>
          </a:xfrm>
          <a:prstGeom prst="rect">
            <a:avLst/>
          </a:prstGeom>
          <a:noFill/>
          <a:ln/>
        </p:spPr>
        <p:txBody>
          <a:bodyPr wrap="square" rtlCol="0" anchor="ctr"/>
          <a:lstStyle/>
          <a:p>
            <a:pPr indent="0" marL="0">
              <a:buNone/>
            </a:pPr>
            <a:r>
              <a:rPr lang="en-US" sz="950" i="1" dirty="0">
                <a:solidFill>
                  <a:srgbClr val="64748B"/>
                </a:solidFill>
                <a:latin typeface="Arial" pitchFamily="34" charset="0"/>
                <a:ea typeface="Arial" pitchFamily="34" charset="-122"/>
                <a:cs typeface="Arial" pitchFamily="34" charset="-120"/>
              </a:rPr>
              <a:t>By Thomas H. Cormen et al. (MIT Press)</a:t>
            </a:r>
            <a:endParaRPr lang="en-US" sz="950" dirty="0"/>
          </a:p>
        </p:txBody>
      </p:sp>
      <p:sp>
        <p:nvSpPr>
          <p:cNvPr id="27" name="Text 25"/>
          <p:cNvSpPr/>
          <p:nvPr/>
        </p:nvSpPr>
        <p:spPr>
          <a:xfrm>
            <a:off x="8138160" y="2194560"/>
            <a:ext cx="3063240" cy="274320"/>
          </a:xfrm>
          <a:prstGeom prst="rect">
            <a:avLst/>
          </a:prstGeom>
          <a:noFill/>
          <a:ln/>
        </p:spPr>
        <p:txBody>
          <a:bodyPr wrap="square" rtlCol="0" anchor="ctr"/>
          <a:lstStyle/>
          <a:p>
            <a:pPr indent="0" marL="0">
              <a:buNone/>
            </a:pPr>
            <a:r>
              <a:rPr lang="en-US" sz="900" b="1" dirty="0">
                <a:solidFill>
                  <a:srgbClr val="7209B7"/>
                </a:solidFill>
                <a:latin typeface="Arial" pitchFamily="34" charset="0"/>
                <a:ea typeface="Arial" pitchFamily="34" charset="-122"/>
                <a:cs typeface="Arial" pitchFamily="34" charset="-120"/>
              </a:rPr>
              <a:t>Academic STEM Textbook (4th Ed.)</a:t>
            </a:r>
            <a:endParaRPr lang="en-US" sz="900" dirty="0"/>
          </a:p>
        </p:txBody>
      </p:sp>
      <p:sp>
        <p:nvSpPr>
          <p:cNvPr id="28" name="Text 26"/>
          <p:cNvSpPr/>
          <p:nvPr/>
        </p:nvSpPr>
        <p:spPr>
          <a:xfrm>
            <a:off x="8138160" y="2560320"/>
            <a:ext cx="3063240" cy="356616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Multi-creator contributions (4 Co-Authors)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MIT Press publisher authority linking</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Complex ISBN-13 &amp; LCCN identifiers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LCC Classification: QA76.6 .C662</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Complete table of contents structured notes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C2541"/>
          </a:solidFill>
          <a:ln/>
        </p:spPr>
      </p:sp>
      <p:sp>
        <p:nvSpPr>
          <p:cNvPr id="3" name="Shape 1"/>
          <p:cNvSpPr/>
          <p:nvPr/>
        </p:nvSpPr>
        <p:spPr>
          <a:xfrm>
            <a:off x="0" y="1005840"/>
            <a:ext cx="12191695" cy="54864"/>
          </a:xfrm>
          <a:prstGeom prst="rect">
            <a:avLst/>
          </a:prstGeom>
          <a:solidFill>
            <a:srgbClr val="0071E3"/>
          </a:solidFill>
          <a:ln/>
        </p:spPr>
      </p:sp>
      <p:sp>
        <p:nvSpPr>
          <p:cNvPr id="4" name="Shape 2"/>
          <p:cNvSpPr/>
          <p:nvPr/>
        </p:nvSpPr>
        <p:spPr>
          <a:xfrm>
            <a:off x="731520" y="164592"/>
            <a:ext cx="2011680" cy="256032"/>
          </a:xfrm>
          <a:prstGeom prst="roundRect">
            <a:avLst/>
          </a:prstGeom>
          <a:solidFill>
            <a:srgbClr val="243356"/>
          </a:solidFill>
          <a:ln/>
        </p:spPr>
      </p:sp>
      <p:sp>
        <p:nvSpPr>
          <p:cNvPr id="5" name="Text 3"/>
          <p:cNvSpPr/>
          <p:nvPr/>
        </p:nvSpPr>
        <p:spPr>
          <a:xfrm>
            <a:off x="731520" y="164592"/>
            <a:ext cx="2011680" cy="256032"/>
          </a:xfrm>
          <a:prstGeom prst="rect">
            <a:avLst/>
          </a:prstGeom>
          <a:noFill/>
          <a:ln/>
        </p:spPr>
        <p:txBody>
          <a:bodyPr wrap="square" rtlCol="0" anchor="ctr"/>
          <a:lstStyle/>
          <a:p>
            <a:pPr algn="ctr" indent="0" marL="0">
              <a:buNone/>
            </a:pPr>
            <a:r>
              <a:rPr lang="en-US" sz="850" b="1" dirty="0">
                <a:solidFill>
                  <a:srgbClr val="48CAE4"/>
                </a:solidFill>
                <a:latin typeface="Arial" pitchFamily="34" charset="0"/>
                <a:ea typeface="Arial" pitchFamily="34" charset="-122"/>
                <a:cs typeface="Arial" pitchFamily="34" charset="-120"/>
              </a:rPr>
              <a:t>STRATEGIC ROADMAP</a:t>
            </a:r>
            <a:endParaRPr lang="en-US" sz="850" dirty="0"/>
          </a:p>
        </p:txBody>
      </p:sp>
      <p:sp>
        <p:nvSpPr>
          <p:cNvPr id="6" name="Text 4"/>
          <p:cNvSpPr/>
          <p:nvPr/>
        </p:nvSpPr>
        <p:spPr>
          <a:xfrm>
            <a:off x="731520" y="438912"/>
            <a:ext cx="9601200" cy="50292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Project Roadmap: Next Horizons &amp; Innovations</a:t>
            </a:r>
            <a:endParaRPr lang="en-US" sz="1800" dirty="0"/>
          </a:p>
        </p:txBody>
      </p:sp>
      <p:sp>
        <p:nvSpPr>
          <p:cNvPr id="7" name="Text 5"/>
          <p:cNvSpPr/>
          <p:nvPr/>
        </p:nvSpPr>
        <p:spPr>
          <a:xfrm>
            <a:off x="9875520" y="320040"/>
            <a:ext cx="1828800" cy="365760"/>
          </a:xfrm>
          <a:prstGeom prst="rect">
            <a:avLst/>
          </a:prstGeom>
          <a:noFill/>
          <a:ln/>
        </p:spPr>
        <p:txBody>
          <a:bodyPr wrap="square" rtlCol="0" anchor="ctr"/>
          <a:lstStyle/>
          <a:p>
            <a:pPr algn="r" indent="0" marL="0">
              <a:buNone/>
            </a:pPr>
            <a:r>
              <a:rPr lang="en-US" sz="1000" b="1" dirty="0">
                <a:solidFill>
                  <a:srgbClr val="F4A261"/>
                </a:solidFill>
                <a:latin typeface="Arial" pitchFamily="34" charset="0"/>
                <a:ea typeface="Arial" pitchFamily="34" charset="-122"/>
                <a:cs typeface="Arial" pitchFamily="34" charset="-120"/>
              </a:rPr>
              <a:t>🌙 MOON PLATFORM</a:t>
            </a:r>
            <a:endParaRPr lang="en-US" sz="1000" dirty="0"/>
          </a:p>
        </p:txBody>
      </p:sp>
      <p:sp>
        <p:nvSpPr>
          <p:cNvPr id="8" name="Shape 6"/>
          <p:cNvSpPr/>
          <p:nvPr/>
        </p:nvSpPr>
        <p:spPr>
          <a:xfrm>
            <a:off x="0" y="6537960"/>
            <a:ext cx="12191695" cy="320040"/>
          </a:xfrm>
          <a:prstGeom prst="rect">
            <a:avLst/>
          </a:prstGeom>
          <a:solidFill>
            <a:srgbClr val="EDF2F7"/>
          </a:solidFill>
          <a:ln/>
        </p:spPr>
      </p:sp>
      <p:sp>
        <p:nvSpPr>
          <p:cNvPr id="9" name="Text 7"/>
          <p:cNvSpPr/>
          <p:nvPr/>
        </p:nvSpPr>
        <p:spPr>
          <a:xfrm>
            <a:off x="731520" y="6537960"/>
            <a:ext cx="822960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Moon Editor (v333 / TO 16) | Enterprise Linked Data &amp; BIBFRAME Cataloging</a:t>
            </a:r>
            <a:endParaRPr lang="en-US" sz="850" dirty="0"/>
          </a:p>
        </p:txBody>
      </p:sp>
      <p:sp>
        <p:nvSpPr>
          <p:cNvPr id="10" name="Text 8"/>
          <p:cNvSpPr/>
          <p:nvPr/>
        </p:nvSpPr>
        <p:spPr>
          <a:xfrm>
            <a:off x="9875520" y="6537960"/>
            <a:ext cx="1584655" cy="32004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Slide 15 of 16</a:t>
            </a:r>
            <a:endParaRPr lang="en-US" sz="850" dirty="0"/>
          </a:p>
        </p:txBody>
      </p:sp>
      <p:sp>
        <p:nvSpPr>
          <p:cNvPr id="11" name="Shape 9"/>
          <p:cNvSpPr/>
          <p:nvPr/>
        </p:nvSpPr>
        <p:spPr>
          <a:xfrm>
            <a:off x="731520" y="1280160"/>
            <a:ext cx="10728655" cy="1143000"/>
          </a:xfrm>
          <a:prstGeom prst="roundRect">
            <a:avLst/>
          </a:prstGeom>
          <a:solidFill>
            <a:srgbClr val="FFFFFF"/>
          </a:solidFill>
          <a:ln w="12700">
            <a:solidFill>
              <a:srgbClr val="E2E8F0"/>
            </a:solidFill>
            <a:prstDash val="solid"/>
          </a:ln>
        </p:spPr>
      </p:sp>
      <p:sp>
        <p:nvSpPr>
          <p:cNvPr id="12" name="Shape 10"/>
          <p:cNvSpPr/>
          <p:nvPr/>
        </p:nvSpPr>
        <p:spPr>
          <a:xfrm>
            <a:off x="731520" y="1280160"/>
            <a:ext cx="137160" cy="1143000"/>
          </a:xfrm>
          <a:prstGeom prst="rect">
            <a:avLst/>
          </a:prstGeom>
          <a:solidFill>
            <a:srgbClr val="0071E3"/>
          </a:solidFill>
          <a:ln/>
        </p:spPr>
      </p:sp>
      <p:sp>
        <p:nvSpPr>
          <p:cNvPr id="13" name="Text 11"/>
          <p:cNvSpPr/>
          <p:nvPr/>
        </p:nvSpPr>
        <p:spPr>
          <a:xfrm>
            <a:off x="1051560" y="1371600"/>
            <a:ext cx="7315200" cy="320040"/>
          </a:xfrm>
          <a:prstGeom prst="rect">
            <a:avLst/>
          </a:prstGeom>
          <a:noFill/>
          <a:ln/>
        </p:spPr>
        <p:txBody>
          <a:bodyPr wrap="square" rtlCol="0" anchor="ctr"/>
          <a:lstStyle/>
          <a:p>
            <a:pPr indent="0" marL="0">
              <a:buNone/>
            </a:pPr>
            <a:r>
              <a:rPr lang="en-US" sz="1150" b="1" dirty="0">
                <a:solidFill>
                  <a:srgbClr val="1C2541"/>
                </a:solidFill>
                <a:latin typeface="Arial" pitchFamily="34" charset="0"/>
                <a:ea typeface="Arial" pitchFamily="34" charset="-122"/>
                <a:cs typeface="Arial" pitchFamily="34" charset="-120"/>
              </a:rPr>
              <a:t>Phase 1: Deep Learning Auto-Classification</a:t>
            </a:r>
            <a:endParaRPr lang="en-US" sz="1150" dirty="0"/>
          </a:p>
        </p:txBody>
      </p:sp>
      <p:sp>
        <p:nvSpPr>
          <p:cNvPr id="14" name="Text 12"/>
          <p:cNvSpPr/>
          <p:nvPr/>
        </p:nvSpPr>
        <p:spPr>
          <a:xfrm>
            <a:off x="8686800" y="1371600"/>
            <a:ext cx="2560320" cy="320040"/>
          </a:xfrm>
          <a:prstGeom prst="rect">
            <a:avLst/>
          </a:prstGeom>
          <a:noFill/>
          <a:ln/>
        </p:spPr>
        <p:txBody>
          <a:bodyPr wrap="square" rtlCol="0" anchor="ctr"/>
          <a:lstStyle/>
          <a:p>
            <a:pPr algn="r" indent="0" marL="0">
              <a:buNone/>
            </a:pPr>
            <a:r>
              <a:rPr lang="en-US" sz="1000" b="1" dirty="0">
                <a:solidFill>
                  <a:srgbClr val="0071E3"/>
                </a:solidFill>
                <a:latin typeface="Arial" pitchFamily="34" charset="0"/>
                <a:ea typeface="Arial" pitchFamily="34" charset="-122"/>
                <a:cs typeface="Arial" pitchFamily="34" charset="-120"/>
              </a:rPr>
              <a:t>Q3 2026</a:t>
            </a:r>
            <a:endParaRPr lang="en-US" sz="1000" dirty="0"/>
          </a:p>
        </p:txBody>
      </p:sp>
      <p:sp>
        <p:nvSpPr>
          <p:cNvPr id="15" name="Text 13"/>
          <p:cNvSpPr/>
          <p:nvPr/>
        </p:nvSpPr>
        <p:spPr>
          <a:xfrm>
            <a:off x="1051560" y="1691640"/>
            <a:ext cx="10149840" cy="658368"/>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Neural network topic modeling on full text &amp; summaries</a:t>
            </a:r>
            <a:endParaRPr lang="en-US" sz="900" dirty="0"/>
          </a:p>
          <a:p>
            <a:pPr indent="0" marL="0">
              <a:buNone/>
            </a:pPr>
            <a:r>
              <a:rPr lang="en-US" sz="900" dirty="0">
                <a:solidFill>
                  <a:srgbClr val="1E293B"/>
                </a:solidFill>
                <a:latin typeface="Arial" pitchFamily="34" charset="0"/>
                <a:ea typeface="Arial" pitchFamily="34" charset="-122"/>
                <a:cs typeface="Arial" pitchFamily="34" charset="-120"/>
              </a:rPr>
              <a:t>• Automatic LCC / DDC call number recommendation</a:t>
            </a:r>
            <a:endParaRPr lang="en-US" sz="900" dirty="0"/>
          </a:p>
          <a:p>
            <a:pPr indent="0" marL="0">
              <a:buNone/>
            </a:pPr>
            <a:r>
              <a:rPr lang="en-US" sz="900" dirty="0">
                <a:solidFill>
                  <a:srgbClr val="1E293B"/>
                </a:solidFill>
                <a:latin typeface="Arial" pitchFamily="34" charset="0"/>
                <a:ea typeface="Arial" pitchFamily="34" charset="-122"/>
                <a:cs typeface="Arial" pitchFamily="34" charset="-120"/>
              </a:rPr>
              <a:t>• Automated entity linking from multi-lingual PDF title pages</a:t>
            </a:r>
            <a:endParaRPr lang="en-US" sz="900" dirty="0"/>
          </a:p>
        </p:txBody>
      </p:sp>
      <p:sp>
        <p:nvSpPr>
          <p:cNvPr id="16" name="Shape 14"/>
          <p:cNvSpPr/>
          <p:nvPr/>
        </p:nvSpPr>
        <p:spPr>
          <a:xfrm>
            <a:off x="731520" y="2542032"/>
            <a:ext cx="10728655" cy="1143000"/>
          </a:xfrm>
          <a:prstGeom prst="roundRect">
            <a:avLst/>
          </a:prstGeom>
          <a:solidFill>
            <a:srgbClr val="FFFFFF"/>
          </a:solidFill>
          <a:ln w="12700">
            <a:solidFill>
              <a:srgbClr val="E2E8F0"/>
            </a:solidFill>
            <a:prstDash val="solid"/>
          </a:ln>
        </p:spPr>
      </p:sp>
      <p:sp>
        <p:nvSpPr>
          <p:cNvPr id="17" name="Shape 15"/>
          <p:cNvSpPr/>
          <p:nvPr/>
        </p:nvSpPr>
        <p:spPr>
          <a:xfrm>
            <a:off x="731520" y="2542032"/>
            <a:ext cx="137160" cy="1143000"/>
          </a:xfrm>
          <a:prstGeom prst="rect">
            <a:avLst/>
          </a:prstGeom>
          <a:solidFill>
            <a:srgbClr val="7209B7"/>
          </a:solidFill>
          <a:ln/>
        </p:spPr>
      </p:sp>
      <p:sp>
        <p:nvSpPr>
          <p:cNvPr id="18" name="Text 16"/>
          <p:cNvSpPr/>
          <p:nvPr/>
        </p:nvSpPr>
        <p:spPr>
          <a:xfrm>
            <a:off x="1051560" y="2633472"/>
            <a:ext cx="7315200" cy="320040"/>
          </a:xfrm>
          <a:prstGeom prst="rect">
            <a:avLst/>
          </a:prstGeom>
          <a:noFill/>
          <a:ln/>
        </p:spPr>
        <p:txBody>
          <a:bodyPr wrap="square" rtlCol="0" anchor="ctr"/>
          <a:lstStyle/>
          <a:p>
            <a:pPr indent="0" marL="0">
              <a:buNone/>
            </a:pPr>
            <a:r>
              <a:rPr lang="en-US" sz="1150" b="1" dirty="0">
                <a:solidFill>
                  <a:srgbClr val="1C2541"/>
                </a:solidFill>
                <a:latin typeface="Arial" pitchFamily="34" charset="0"/>
                <a:ea typeface="Arial" pitchFamily="34" charset="-122"/>
                <a:cs typeface="Arial" pitchFamily="34" charset="-120"/>
              </a:rPr>
              <a:t>Phase 2: Real-Time Collaborative Editing (CRDTs)</a:t>
            </a:r>
            <a:endParaRPr lang="en-US" sz="1150" dirty="0"/>
          </a:p>
        </p:txBody>
      </p:sp>
      <p:sp>
        <p:nvSpPr>
          <p:cNvPr id="19" name="Text 17"/>
          <p:cNvSpPr/>
          <p:nvPr/>
        </p:nvSpPr>
        <p:spPr>
          <a:xfrm>
            <a:off x="8686800" y="2633472"/>
            <a:ext cx="2560320" cy="320040"/>
          </a:xfrm>
          <a:prstGeom prst="rect">
            <a:avLst/>
          </a:prstGeom>
          <a:noFill/>
          <a:ln/>
        </p:spPr>
        <p:txBody>
          <a:bodyPr wrap="square" rtlCol="0" anchor="ctr"/>
          <a:lstStyle/>
          <a:p>
            <a:pPr algn="r" indent="0" marL="0">
              <a:buNone/>
            </a:pPr>
            <a:r>
              <a:rPr lang="en-US" sz="1000" b="1" dirty="0">
                <a:solidFill>
                  <a:srgbClr val="0071E3"/>
                </a:solidFill>
                <a:latin typeface="Arial" pitchFamily="34" charset="0"/>
                <a:ea typeface="Arial" pitchFamily="34" charset="-122"/>
                <a:cs typeface="Arial" pitchFamily="34" charset="-120"/>
              </a:rPr>
              <a:t>Q4 2026</a:t>
            </a:r>
            <a:endParaRPr lang="en-US" sz="1000" dirty="0"/>
          </a:p>
        </p:txBody>
      </p:sp>
      <p:sp>
        <p:nvSpPr>
          <p:cNvPr id="20" name="Text 18"/>
          <p:cNvSpPr/>
          <p:nvPr/>
        </p:nvSpPr>
        <p:spPr>
          <a:xfrm>
            <a:off x="1051560" y="2953512"/>
            <a:ext cx="10149840" cy="658368"/>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WebSocket-based multi-cataloger simultaneous editing</a:t>
            </a:r>
            <a:endParaRPr lang="en-US" sz="900" dirty="0"/>
          </a:p>
          <a:p>
            <a:pPr indent="0" marL="0">
              <a:buNone/>
            </a:pPr>
            <a:r>
              <a:rPr lang="en-US" sz="900" dirty="0">
                <a:solidFill>
                  <a:srgbClr val="1E293B"/>
                </a:solidFill>
                <a:latin typeface="Arial" pitchFamily="34" charset="0"/>
                <a:ea typeface="Arial" pitchFamily="34" charset="-122"/>
                <a:cs typeface="Arial" pitchFamily="34" charset="-120"/>
              </a:rPr>
              <a:t>• Conflict-free Replicated Data Types (CRDTs) on RDF triples</a:t>
            </a:r>
            <a:endParaRPr lang="en-US" sz="900" dirty="0"/>
          </a:p>
          <a:p>
            <a:pPr indent="0" marL="0">
              <a:buNone/>
            </a:pPr>
            <a:r>
              <a:rPr lang="en-US" sz="900" dirty="0">
                <a:solidFill>
                  <a:srgbClr val="1E293B"/>
                </a:solidFill>
                <a:latin typeface="Arial" pitchFamily="34" charset="0"/>
                <a:ea typeface="Arial" pitchFamily="34" charset="-122"/>
                <a:cs typeface="Arial" pitchFamily="34" charset="-120"/>
              </a:rPr>
              <a:t>• Live presence indicators and cursor tracking</a:t>
            </a:r>
            <a:endParaRPr lang="en-US" sz="900" dirty="0"/>
          </a:p>
        </p:txBody>
      </p:sp>
      <p:sp>
        <p:nvSpPr>
          <p:cNvPr id="21" name="Shape 19"/>
          <p:cNvSpPr/>
          <p:nvPr/>
        </p:nvSpPr>
        <p:spPr>
          <a:xfrm>
            <a:off x="731520" y="3803904"/>
            <a:ext cx="10728655" cy="1143000"/>
          </a:xfrm>
          <a:prstGeom prst="roundRect">
            <a:avLst/>
          </a:prstGeom>
          <a:solidFill>
            <a:srgbClr val="FFFFFF"/>
          </a:solidFill>
          <a:ln w="12700">
            <a:solidFill>
              <a:srgbClr val="E2E8F0"/>
            </a:solidFill>
            <a:prstDash val="solid"/>
          </a:ln>
        </p:spPr>
      </p:sp>
      <p:sp>
        <p:nvSpPr>
          <p:cNvPr id="22" name="Shape 20"/>
          <p:cNvSpPr/>
          <p:nvPr/>
        </p:nvSpPr>
        <p:spPr>
          <a:xfrm>
            <a:off x="731520" y="3803904"/>
            <a:ext cx="137160" cy="1143000"/>
          </a:xfrm>
          <a:prstGeom prst="rect">
            <a:avLst/>
          </a:prstGeom>
          <a:solidFill>
            <a:srgbClr val="10B981"/>
          </a:solidFill>
          <a:ln/>
        </p:spPr>
      </p:sp>
      <p:sp>
        <p:nvSpPr>
          <p:cNvPr id="23" name="Text 21"/>
          <p:cNvSpPr/>
          <p:nvPr/>
        </p:nvSpPr>
        <p:spPr>
          <a:xfrm>
            <a:off x="1051560" y="3895344"/>
            <a:ext cx="7315200" cy="320040"/>
          </a:xfrm>
          <a:prstGeom prst="rect">
            <a:avLst/>
          </a:prstGeom>
          <a:noFill/>
          <a:ln/>
        </p:spPr>
        <p:txBody>
          <a:bodyPr wrap="square" rtlCol="0" anchor="ctr"/>
          <a:lstStyle/>
          <a:p>
            <a:pPr indent="0" marL="0">
              <a:buNone/>
            </a:pPr>
            <a:r>
              <a:rPr lang="en-US" sz="1150" b="1" dirty="0">
                <a:solidFill>
                  <a:srgbClr val="1C2541"/>
                </a:solidFill>
                <a:latin typeface="Arial" pitchFamily="34" charset="0"/>
                <a:ea typeface="Arial" pitchFamily="34" charset="-122"/>
                <a:cs typeface="Arial" pitchFamily="34" charset="-120"/>
              </a:rPr>
              <a:t>Phase 3: Native Mobile &amp; Tablet Cataloging</a:t>
            </a:r>
            <a:endParaRPr lang="en-US" sz="1150" dirty="0"/>
          </a:p>
        </p:txBody>
      </p:sp>
      <p:sp>
        <p:nvSpPr>
          <p:cNvPr id="24" name="Text 22"/>
          <p:cNvSpPr/>
          <p:nvPr/>
        </p:nvSpPr>
        <p:spPr>
          <a:xfrm>
            <a:off x="8686800" y="3895344"/>
            <a:ext cx="2560320" cy="320040"/>
          </a:xfrm>
          <a:prstGeom prst="rect">
            <a:avLst/>
          </a:prstGeom>
          <a:noFill/>
          <a:ln/>
        </p:spPr>
        <p:txBody>
          <a:bodyPr wrap="square" rtlCol="0" anchor="ctr"/>
          <a:lstStyle/>
          <a:p>
            <a:pPr algn="r" indent="0" marL="0">
              <a:buNone/>
            </a:pPr>
            <a:r>
              <a:rPr lang="en-US" sz="1000" b="1" dirty="0">
                <a:solidFill>
                  <a:srgbClr val="0071E3"/>
                </a:solidFill>
                <a:latin typeface="Arial" pitchFamily="34" charset="0"/>
                <a:ea typeface="Arial" pitchFamily="34" charset="-122"/>
                <a:cs typeface="Arial" pitchFamily="34" charset="-120"/>
              </a:rPr>
              <a:t>Q1 2027</a:t>
            </a:r>
            <a:endParaRPr lang="en-US" sz="1000" dirty="0"/>
          </a:p>
        </p:txBody>
      </p:sp>
      <p:sp>
        <p:nvSpPr>
          <p:cNvPr id="25" name="Text 23"/>
          <p:cNvSpPr/>
          <p:nvPr/>
        </p:nvSpPr>
        <p:spPr>
          <a:xfrm>
            <a:off x="1051560" y="4215384"/>
            <a:ext cx="10149840" cy="658368"/>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Dedicated iOS / iPadOS cataloging companion app</a:t>
            </a:r>
            <a:endParaRPr lang="en-US" sz="900" dirty="0"/>
          </a:p>
          <a:p>
            <a:pPr indent="0" marL="0">
              <a:buNone/>
            </a:pPr>
            <a:r>
              <a:rPr lang="en-US" sz="900" dirty="0">
                <a:solidFill>
                  <a:srgbClr val="1E293B"/>
                </a:solidFill>
                <a:latin typeface="Arial" pitchFamily="34" charset="0"/>
                <a:ea typeface="Arial" pitchFamily="34" charset="-122"/>
                <a:cs typeface="Arial" pitchFamily="34" charset="-120"/>
              </a:rPr>
              <a:t>• Barcode &amp; OCR camera scanner for instant book accessioning</a:t>
            </a:r>
            <a:endParaRPr lang="en-US" sz="900" dirty="0"/>
          </a:p>
          <a:p>
            <a:pPr indent="0" marL="0">
              <a:buNone/>
            </a:pPr>
            <a:r>
              <a:rPr lang="en-US" sz="900" dirty="0">
                <a:solidFill>
                  <a:srgbClr val="1E293B"/>
                </a:solidFill>
                <a:latin typeface="Arial" pitchFamily="34" charset="0"/>
                <a:ea typeface="Arial" pitchFamily="34" charset="-122"/>
                <a:cs typeface="Arial" pitchFamily="34" charset="-120"/>
              </a:rPr>
              <a:t>• Offline-first local SQLite cache with cloud sync</a:t>
            </a:r>
            <a:endParaRPr lang="en-US" sz="900" dirty="0"/>
          </a:p>
        </p:txBody>
      </p:sp>
      <p:sp>
        <p:nvSpPr>
          <p:cNvPr id="26" name="Shape 24"/>
          <p:cNvSpPr/>
          <p:nvPr/>
        </p:nvSpPr>
        <p:spPr>
          <a:xfrm>
            <a:off x="731520" y="5065776"/>
            <a:ext cx="10728655" cy="1143000"/>
          </a:xfrm>
          <a:prstGeom prst="roundRect">
            <a:avLst/>
          </a:prstGeom>
          <a:solidFill>
            <a:srgbClr val="FFFFFF"/>
          </a:solidFill>
          <a:ln w="12700">
            <a:solidFill>
              <a:srgbClr val="E2E8F0"/>
            </a:solidFill>
            <a:prstDash val="solid"/>
          </a:ln>
        </p:spPr>
      </p:sp>
      <p:sp>
        <p:nvSpPr>
          <p:cNvPr id="27" name="Shape 25"/>
          <p:cNvSpPr/>
          <p:nvPr/>
        </p:nvSpPr>
        <p:spPr>
          <a:xfrm>
            <a:off x="731520" y="5065776"/>
            <a:ext cx="137160" cy="1143000"/>
          </a:xfrm>
          <a:prstGeom prst="rect">
            <a:avLst/>
          </a:prstGeom>
          <a:solidFill>
            <a:srgbClr val="F4A261"/>
          </a:solidFill>
          <a:ln/>
        </p:spPr>
      </p:sp>
      <p:sp>
        <p:nvSpPr>
          <p:cNvPr id="28" name="Text 26"/>
          <p:cNvSpPr/>
          <p:nvPr/>
        </p:nvSpPr>
        <p:spPr>
          <a:xfrm>
            <a:off x="1051560" y="5157216"/>
            <a:ext cx="7315200" cy="320040"/>
          </a:xfrm>
          <a:prstGeom prst="rect">
            <a:avLst/>
          </a:prstGeom>
          <a:noFill/>
          <a:ln/>
        </p:spPr>
        <p:txBody>
          <a:bodyPr wrap="square" rtlCol="0" anchor="ctr"/>
          <a:lstStyle/>
          <a:p>
            <a:pPr indent="0" marL="0">
              <a:buNone/>
            </a:pPr>
            <a:r>
              <a:rPr lang="en-US" sz="1150" b="1" dirty="0">
                <a:solidFill>
                  <a:srgbClr val="1C2541"/>
                </a:solidFill>
                <a:latin typeface="Arial" pitchFamily="34" charset="0"/>
                <a:ea typeface="Arial" pitchFamily="34" charset="-122"/>
                <a:cs typeface="Arial" pitchFamily="34" charset="-120"/>
              </a:rPr>
              <a:t>Phase 4: BIBFRAME 4.0 &amp; AFIQA Expansion</a:t>
            </a:r>
            <a:endParaRPr lang="en-US" sz="1150" dirty="0"/>
          </a:p>
        </p:txBody>
      </p:sp>
      <p:sp>
        <p:nvSpPr>
          <p:cNvPr id="29" name="Text 27"/>
          <p:cNvSpPr/>
          <p:nvPr/>
        </p:nvSpPr>
        <p:spPr>
          <a:xfrm>
            <a:off x="8686800" y="5157216"/>
            <a:ext cx="2560320" cy="320040"/>
          </a:xfrm>
          <a:prstGeom prst="rect">
            <a:avLst/>
          </a:prstGeom>
          <a:noFill/>
          <a:ln/>
        </p:spPr>
        <p:txBody>
          <a:bodyPr wrap="square" rtlCol="0" anchor="ctr"/>
          <a:lstStyle/>
          <a:p>
            <a:pPr algn="r" indent="0" marL="0">
              <a:buNone/>
            </a:pPr>
            <a:r>
              <a:rPr lang="en-US" sz="1000" b="1" dirty="0">
                <a:solidFill>
                  <a:srgbClr val="0071E3"/>
                </a:solidFill>
                <a:latin typeface="Arial" pitchFamily="34" charset="0"/>
                <a:ea typeface="Arial" pitchFamily="34" charset="-122"/>
                <a:cs typeface="Arial" pitchFamily="34" charset="-120"/>
              </a:rPr>
              <a:t>Q2 2027</a:t>
            </a:r>
            <a:endParaRPr lang="en-US" sz="1000" dirty="0"/>
          </a:p>
        </p:txBody>
      </p:sp>
      <p:sp>
        <p:nvSpPr>
          <p:cNvPr id="30" name="Text 28"/>
          <p:cNvSpPr/>
          <p:nvPr/>
        </p:nvSpPr>
        <p:spPr>
          <a:xfrm>
            <a:off x="1051560" y="5477256"/>
            <a:ext cx="10149840" cy="658368"/>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Immediate readiness for future LC BIBFRAME revisions</a:t>
            </a:r>
            <a:endParaRPr lang="en-US" sz="900" dirty="0"/>
          </a:p>
          <a:p>
            <a:pPr indent="0" marL="0">
              <a:buNone/>
            </a:pPr>
            <a:r>
              <a:rPr lang="en-US" sz="900" dirty="0">
                <a:solidFill>
                  <a:srgbClr val="1E293B"/>
                </a:solidFill>
                <a:latin typeface="Arial" pitchFamily="34" charset="0"/>
                <a:ea typeface="Arial" pitchFamily="34" charset="-122"/>
                <a:cs typeface="Arial" pitchFamily="34" charset="-120"/>
              </a:rPr>
              <a:t>• Pan-Arab library consortium expansion across Middle Eastern universities</a:t>
            </a:r>
            <a:endParaRPr lang="en-US" sz="900" dirty="0"/>
          </a:p>
          <a:p>
            <a:pPr indent="0" marL="0">
              <a:buNone/>
            </a:pPr>
            <a:r>
              <a:rPr lang="en-US" sz="900" dirty="0">
                <a:solidFill>
                  <a:srgbClr val="1E293B"/>
                </a:solidFill>
                <a:latin typeface="Arial" pitchFamily="34" charset="0"/>
                <a:ea typeface="Arial" pitchFamily="34" charset="-122"/>
                <a:cs typeface="Arial" pitchFamily="34" charset="-120"/>
              </a:rPr>
              <a:t>• Integration with national manuscript repositories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914400" y="3200400"/>
            <a:ext cx="4572000" cy="4572000"/>
          </a:xfrm>
          <a:prstGeom prst="ellipse">
            <a:avLst/>
          </a:prstGeom>
          <a:solidFill>
            <a:srgbClr val="1A274E">
              <a:alpha val="60000"/>
            </a:srgbClr>
          </a:solidFill>
          <a:ln/>
        </p:spPr>
      </p:sp>
      <p:sp>
        <p:nvSpPr>
          <p:cNvPr id="3" name="Text 1"/>
          <p:cNvSpPr/>
          <p:nvPr/>
        </p:nvSpPr>
        <p:spPr>
          <a:xfrm>
            <a:off x="914400" y="1097280"/>
            <a:ext cx="10362895" cy="457200"/>
          </a:xfrm>
          <a:prstGeom prst="rect">
            <a:avLst/>
          </a:prstGeom>
          <a:noFill/>
          <a:ln/>
        </p:spPr>
        <p:txBody>
          <a:bodyPr wrap="square" rtlCol="0" anchor="ctr"/>
          <a:lstStyle/>
          <a:p>
            <a:pPr algn="ctr" indent="0" marL="0">
              <a:buNone/>
            </a:pPr>
            <a:r>
              <a:rPr lang="en-US" sz="1600" b="1" dirty="0">
                <a:solidFill>
                  <a:srgbClr val="F4A261"/>
                </a:solidFill>
                <a:latin typeface="Arial" pitchFamily="34" charset="0"/>
                <a:ea typeface="Arial" pitchFamily="34" charset="-122"/>
                <a:cs typeface="Arial" pitchFamily="34" charset="-120"/>
              </a:rPr>
              <a:t>🌙 MOON PLATFORM</a:t>
            </a:r>
            <a:endParaRPr lang="en-US" sz="1600" dirty="0"/>
          </a:p>
        </p:txBody>
      </p:sp>
      <p:sp>
        <p:nvSpPr>
          <p:cNvPr id="4" name="Text 2"/>
          <p:cNvSpPr/>
          <p:nvPr/>
        </p:nvSpPr>
        <p:spPr>
          <a:xfrm>
            <a:off x="914400" y="1554480"/>
            <a:ext cx="1036289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Illuminating the Future of Bibliographic Cataloging</a:t>
            </a:r>
            <a:endParaRPr lang="en-US" sz="3200" dirty="0"/>
          </a:p>
        </p:txBody>
      </p:sp>
      <p:sp>
        <p:nvSpPr>
          <p:cNvPr id="5" name="Shape 3"/>
          <p:cNvSpPr/>
          <p:nvPr/>
        </p:nvSpPr>
        <p:spPr>
          <a:xfrm>
            <a:off x="1645920" y="2377440"/>
            <a:ext cx="8899855" cy="1828800"/>
          </a:xfrm>
          <a:prstGeom prst="roundRect">
            <a:avLst/>
          </a:prstGeom>
          <a:solidFill>
            <a:srgbClr val="162244"/>
          </a:solidFill>
          <a:ln w="12700">
            <a:solidFill>
              <a:srgbClr val="2A3B66"/>
            </a:solidFill>
            <a:prstDash val="solid"/>
          </a:ln>
        </p:spPr>
      </p:sp>
      <p:sp>
        <p:nvSpPr>
          <p:cNvPr id="6" name="Text 4"/>
          <p:cNvSpPr/>
          <p:nvPr/>
        </p:nvSpPr>
        <p:spPr>
          <a:xfrm>
            <a:off x="2011680" y="2560320"/>
            <a:ext cx="8168335" cy="1463040"/>
          </a:xfrm>
          <a:prstGeom prst="rect">
            <a:avLst/>
          </a:prstGeom>
          <a:noFill/>
          <a:ln/>
        </p:spPr>
        <p:txBody>
          <a:bodyPr wrap="square" rtlCol="0" anchor="ctr"/>
          <a:lstStyle/>
          <a:p>
            <a:pPr algn="ctr" indent="0" marL="0">
              <a:buNone/>
            </a:pPr>
            <a:r>
              <a:rPr lang="en-US" sz="1250" i="1" dirty="0">
                <a:solidFill>
                  <a:srgbClr val="E2E8F0"/>
                </a:solidFill>
                <a:latin typeface="Arial" pitchFamily="34" charset="0"/>
                <a:ea typeface="Arial" pitchFamily="34" charset="-122"/>
                <a:cs typeface="Arial" pitchFamily="34" charset="-120"/>
              </a:rPr>
              <a:t>"Moon brings the power of BIBFRAME, linked open data, and modern artificial intelligence to libraries worldwide. From small special collections and regional manuscript archives to international academic consortia, Moon illuminates the path to professional, standards-compliant bibliographic description."</a:t>
            </a:r>
            <a:endParaRPr lang="en-US" sz="1250" dirty="0"/>
          </a:p>
        </p:txBody>
      </p:sp>
      <p:sp>
        <p:nvSpPr>
          <p:cNvPr id="7" name="Shape 5"/>
          <p:cNvSpPr/>
          <p:nvPr/>
        </p:nvSpPr>
        <p:spPr>
          <a:xfrm>
            <a:off x="1645920" y="4434840"/>
            <a:ext cx="2834640" cy="1097280"/>
          </a:xfrm>
          <a:prstGeom prst="roundRect">
            <a:avLst/>
          </a:prstGeom>
          <a:solidFill>
            <a:srgbClr val="1C2B54"/>
          </a:solidFill>
          <a:ln/>
        </p:spPr>
      </p:sp>
      <p:sp>
        <p:nvSpPr>
          <p:cNvPr id="8" name="Text 6"/>
          <p:cNvSpPr/>
          <p:nvPr/>
        </p:nvSpPr>
        <p:spPr>
          <a:xfrm>
            <a:off x="1783080" y="4572000"/>
            <a:ext cx="2560320" cy="320040"/>
          </a:xfrm>
          <a:prstGeom prst="rect">
            <a:avLst/>
          </a:prstGeom>
          <a:noFill/>
          <a:ln/>
        </p:spPr>
        <p:txBody>
          <a:bodyPr wrap="square" rtlCol="0" anchor="ctr"/>
          <a:lstStyle/>
          <a:p>
            <a:pPr algn="ctr" indent="0" marL="0">
              <a:buNone/>
            </a:pPr>
            <a:r>
              <a:rPr lang="en-US" sz="1050" b="1" dirty="0">
                <a:solidFill>
                  <a:srgbClr val="48CAE4"/>
                </a:solidFill>
                <a:latin typeface="Arial" pitchFamily="34" charset="0"/>
                <a:ea typeface="Arial" pitchFamily="34" charset="-122"/>
                <a:cs typeface="Arial" pitchFamily="34" charset="-120"/>
              </a:rPr>
              <a:t>✅ 100% Standards Compliant</a:t>
            </a:r>
            <a:endParaRPr lang="en-US" sz="1050" dirty="0"/>
          </a:p>
        </p:txBody>
      </p:sp>
      <p:sp>
        <p:nvSpPr>
          <p:cNvPr id="9" name="Text 7"/>
          <p:cNvSpPr/>
          <p:nvPr/>
        </p:nvSpPr>
        <p:spPr>
          <a:xfrm>
            <a:off x="1783080" y="4892040"/>
            <a:ext cx="2560320" cy="54864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BIBFRAME 2.0/3.0, W3C RDF, RDA, MARC21</a:t>
            </a:r>
            <a:endParaRPr lang="en-US" sz="900" dirty="0"/>
          </a:p>
        </p:txBody>
      </p:sp>
      <p:sp>
        <p:nvSpPr>
          <p:cNvPr id="10" name="Shape 8"/>
          <p:cNvSpPr/>
          <p:nvPr/>
        </p:nvSpPr>
        <p:spPr>
          <a:xfrm>
            <a:off x="4709160" y="4434840"/>
            <a:ext cx="2834640" cy="1097280"/>
          </a:xfrm>
          <a:prstGeom prst="roundRect">
            <a:avLst/>
          </a:prstGeom>
          <a:solidFill>
            <a:srgbClr val="1C2B54"/>
          </a:solidFill>
          <a:ln/>
        </p:spPr>
      </p:sp>
      <p:sp>
        <p:nvSpPr>
          <p:cNvPr id="11" name="Text 9"/>
          <p:cNvSpPr/>
          <p:nvPr/>
        </p:nvSpPr>
        <p:spPr>
          <a:xfrm>
            <a:off x="4846320" y="4572000"/>
            <a:ext cx="2560320" cy="320040"/>
          </a:xfrm>
          <a:prstGeom prst="rect">
            <a:avLst/>
          </a:prstGeom>
          <a:noFill/>
          <a:ln/>
        </p:spPr>
        <p:txBody>
          <a:bodyPr wrap="square" rtlCol="0" anchor="ctr"/>
          <a:lstStyle/>
          <a:p>
            <a:pPr algn="ctr" indent="0" marL="0">
              <a:buNone/>
            </a:pPr>
            <a:r>
              <a:rPr lang="en-US" sz="1050" b="1" dirty="0">
                <a:solidFill>
                  <a:srgbClr val="48CAE4"/>
                </a:solidFill>
                <a:latin typeface="Arial" pitchFamily="34" charset="0"/>
                <a:ea typeface="Arial" pitchFamily="34" charset="-122"/>
                <a:cs typeface="Arial" pitchFamily="34" charset="-120"/>
              </a:rPr>
              <a:t>🤖 Multi-AI Orchestrated</a:t>
            </a:r>
            <a:endParaRPr lang="en-US" sz="1050" dirty="0"/>
          </a:p>
        </p:txBody>
      </p:sp>
      <p:sp>
        <p:nvSpPr>
          <p:cNvPr id="12" name="Text 10"/>
          <p:cNvSpPr/>
          <p:nvPr/>
        </p:nvSpPr>
        <p:spPr>
          <a:xfrm>
            <a:off x="4846320" y="4892040"/>
            <a:ext cx="2560320" cy="54864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Intelligent routing across GPT-4, Gemini &amp; LLaMA</a:t>
            </a:r>
            <a:endParaRPr lang="en-US" sz="900" dirty="0"/>
          </a:p>
        </p:txBody>
      </p:sp>
      <p:sp>
        <p:nvSpPr>
          <p:cNvPr id="13" name="Shape 11"/>
          <p:cNvSpPr/>
          <p:nvPr/>
        </p:nvSpPr>
        <p:spPr>
          <a:xfrm>
            <a:off x="7772400" y="4434840"/>
            <a:ext cx="2834640" cy="1097280"/>
          </a:xfrm>
          <a:prstGeom prst="roundRect">
            <a:avLst/>
          </a:prstGeom>
          <a:solidFill>
            <a:srgbClr val="1C2B54"/>
          </a:solidFill>
          <a:ln/>
        </p:spPr>
      </p:sp>
      <p:sp>
        <p:nvSpPr>
          <p:cNvPr id="14" name="Text 12"/>
          <p:cNvSpPr/>
          <p:nvPr/>
        </p:nvSpPr>
        <p:spPr>
          <a:xfrm>
            <a:off x="7909560" y="4572000"/>
            <a:ext cx="2560320" cy="320040"/>
          </a:xfrm>
          <a:prstGeom prst="rect">
            <a:avLst/>
          </a:prstGeom>
          <a:noFill/>
          <a:ln/>
        </p:spPr>
        <p:txBody>
          <a:bodyPr wrap="square" rtlCol="0" anchor="ctr"/>
          <a:lstStyle/>
          <a:p>
            <a:pPr algn="ctr" indent="0" marL="0">
              <a:buNone/>
            </a:pPr>
            <a:r>
              <a:rPr lang="en-US" sz="1050" b="1" dirty="0">
                <a:solidFill>
                  <a:srgbClr val="48CAE4"/>
                </a:solidFill>
                <a:latin typeface="Arial" pitchFamily="34" charset="0"/>
                <a:ea typeface="Arial" pitchFamily="34" charset="-122"/>
                <a:cs typeface="Arial" pitchFamily="34" charset="-120"/>
              </a:rPr>
              <a:t>🌍 Universally Bilingual</a:t>
            </a:r>
            <a:endParaRPr lang="en-US" sz="1050" dirty="0"/>
          </a:p>
        </p:txBody>
      </p:sp>
      <p:sp>
        <p:nvSpPr>
          <p:cNvPr id="15" name="Text 13"/>
          <p:cNvSpPr/>
          <p:nvPr/>
        </p:nvSpPr>
        <p:spPr>
          <a:xfrm>
            <a:off x="7909560" y="4892040"/>
            <a:ext cx="2560320" cy="54864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First-class English and Arabic Linked Data</a:t>
            </a:r>
            <a:endParaRPr lang="en-US" sz="900" dirty="0"/>
          </a:p>
        </p:txBody>
      </p:sp>
      <p:sp>
        <p:nvSpPr>
          <p:cNvPr id="16" name="Text 14"/>
          <p:cNvSpPr/>
          <p:nvPr/>
        </p:nvSpPr>
        <p:spPr>
          <a:xfrm>
            <a:off x="914400" y="5852160"/>
            <a:ext cx="10362895" cy="36576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Project: Moon Editor (74) | Author: Isaac Faleh | Ready for Deployment &amp; Presentation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Moon Cataloging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Moon Editor - Comprehensive BIBFRAME 2.0/3.0 Cataloging Ecosystem</dc:title>
  <dc:subject>Enterprise Bibliographic Cataloging System Architecture &amp; Capabilities</dc:subject>
  <dc:creator>Isaac Faleh / Moon Team</dc:creator>
  <cp:lastModifiedBy>Isaac Faleh / Moon Team</cp:lastModifiedBy>
  <cp:revision>1</cp:revision>
  <dcterms:created xsi:type="dcterms:W3CDTF">2026-08-28T07:14:46Z</dcterms:created>
  <dcterms:modified xsi:type="dcterms:W3CDTF">2026-08-28T07:14:46Z</dcterms:modified>
</cp:coreProperties>
</file>